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24"/>
  </p:notesMasterIdLst>
  <p:sldIdLst>
    <p:sldId id="256" r:id="rId2"/>
    <p:sldId id="264" r:id="rId3"/>
    <p:sldId id="280" r:id="rId4"/>
    <p:sldId id="293" r:id="rId5"/>
    <p:sldId id="301" r:id="rId6"/>
    <p:sldId id="296" r:id="rId7"/>
    <p:sldId id="302" r:id="rId8"/>
    <p:sldId id="294" r:id="rId9"/>
    <p:sldId id="297" r:id="rId10"/>
    <p:sldId id="303" r:id="rId11"/>
    <p:sldId id="305" r:id="rId12"/>
    <p:sldId id="304" r:id="rId13"/>
    <p:sldId id="298" r:id="rId14"/>
    <p:sldId id="306" r:id="rId15"/>
    <p:sldId id="307" r:id="rId16"/>
    <p:sldId id="308" r:id="rId17"/>
    <p:sldId id="309" r:id="rId18"/>
    <p:sldId id="310" r:id="rId19"/>
    <p:sldId id="300" r:id="rId20"/>
    <p:sldId id="291" r:id="rId21"/>
    <p:sldId id="299" r:id="rId22"/>
    <p:sldId id="295" r:id="rId23"/>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4660"/>
  </p:normalViewPr>
  <p:slideViewPr>
    <p:cSldViewPr>
      <p:cViewPr varScale="1">
        <p:scale>
          <a:sx n="81" d="100"/>
          <a:sy n="81" d="100"/>
        </p:scale>
        <p:origin x="710" y="5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12/9/2025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12/9/2025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12/9/2025</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12/9/2025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48550/arxiv.2411.10071" TargetMode="External"/><Relationship Id="rId2" Type="http://schemas.openxmlformats.org/officeDocument/2006/relationships/hyperlink" Target="https://doi.org/10.3390/diagnostics13111964" TargetMode="External"/><Relationship Id="rId1" Type="http://schemas.openxmlformats.org/officeDocument/2006/relationships/slideLayout" Target="../slideLayouts/slideLayout12.xml"/><Relationship Id="rId5" Type="http://schemas.openxmlformats.org/officeDocument/2006/relationships/hyperlink" Target="https://doi.org/10.1016/j.jid.2024.05.023" TargetMode="External"/><Relationship Id="rId4" Type="http://schemas.openxmlformats.org/officeDocument/2006/relationships/hyperlink" Target="https://doi.org/10.1038/s41598-022-22644-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rtlCol="0">
            <a:normAutofit fontScale="90000"/>
          </a:bodyPr>
          <a:lstStyle/>
          <a:p>
            <a:r>
              <a:rPr lang="en-US" dirty="0">
                <a:effectLst/>
              </a:rPr>
              <a:t>Privacy-Preserving Federated Hybrid Ensemble (EfficientNetB3-InceptionV3) for Multi-Class Skin Lesion Classification</a:t>
            </a:r>
          </a:p>
        </p:txBody>
      </p:sp>
      <p:sp>
        <p:nvSpPr>
          <p:cNvPr id="5" name="Subtitle 4"/>
          <p:cNvSpPr>
            <a:spLocks noGrp="1"/>
          </p:cNvSpPr>
          <p:nvPr>
            <p:ph type="subTitle" idx="1"/>
          </p:nvPr>
        </p:nvSpPr>
        <p:spPr>
          <a:xfrm>
            <a:off x="3695700" y="3973399"/>
            <a:ext cx="4800600" cy="2438400"/>
          </a:xfrm>
        </p:spPr>
        <p:txBody>
          <a:bodyPr rtlCol="0">
            <a:normAutofit/>
          </a:bodyPr>
          <a:lstStyle/>
          <a:p>
            <a:r>
              <a:rPr lang="en-UM" sz="2200" b="1" dirty="0">
                <a:solidFill>
                  <a:schemeClr val="tx1"/>
                </a:solidFill>
                <a:latin typeface="Times New Roman" panose="02020603050405020304" pitchFamily="18" charset="0"/>
                <a:cs typeface="Times New Roman" panose="02020603050405020304" pitchFamily="18" charset="0"/>
              </a:rPr>
              <a:t>Amit Kumar Ghosh</a:t>
            </a:r>
            <a:endParaRPr lang="en-US" sz="2200" b="1" dirty="0">
              <a:solidFill>
                <a:schemeClr val="tx1"/>
              </a:solidFill>
              <a:latin typeface="Times New Roman" panose="02020603050405020304" pitchFamily="18" charset="0"/>
              <a:cs typeface="Times New Roman" panose="02020603050405020304" pitchFamily="18" charset="0"/>
            </a:endParaRPr>
          </a:p>
          <a:p>
            <a:r>
              <a:rPr lang="en-US" sz="2200" b="1" dirty="0">
                <a:solidFill>
                  <a:schemeClr val="tx1"/>
                </a:solidFill>
                <a:latin typeface="Times New Roman" panose="02020603050405020304" pitchFamily="18" charset="0"/>
                <a:cs typeface="Times New Roman" panose="02020603050405020304" pitchFamily="18" charset="0"/>
              </a:rPr>
              <a:t>ID :</a:t>
            </a:r>
            <a:r>
              <a:rPr lang="en-UM" sz="2200" b="1" dirty="0">
                <a:solidFill>
                  <a:schemeClr val="tx1"/>
                </a:solidFill>
                <a:latin typeface="Times New Roman" panose="02020603050405020304" pitchFamily="18" charset="0"/>
                <a:cs typeface="Times New Roman" panose="02020603050405020304" pitchFamily="18" charset="0"/>
              </a:rPr>
              <a:t> 221-15-4650</a:t>
            </a:r>
            <a:endParaRPr lang="en-US" sz="2200" dirty="0">
              <a:solidFill>
                <a:schemeClr val="tx1"/>
              </a:solidFill>
              <a:latin typeface="Times New Roman" panose="02020603050405020304" pitchFamily="18" charset="0"/>
              <a:cs typeface="Times New Roman" panose="02020603050405020304" pitchFamily="18" charset="0"/>
            </a:endParaRPr>
          </a:p>
          <a:p>
            <a:r>
              <a:rPr lang="en-US" sz="2200" b="1" dirty="0">
                <a:solidFill>
                  <a:schemeClr val="tx1"/>
                </a:solidFill>
                <a:latin typeface="Times New Roman" panose="02020603050405020304" pitchFamily="18" charset="0"/>
                <a:cs typeface="Times New Roman" panose="02020603050405020304" pitchFamily="18" charset="0"/>
              </a:rPr>
              <a:t>Department : </a:t>
            </a:r>
            <a:r>
              <a:rPr lang="en-US" sz="2200" dirty="0">
                <a:solidFill>
                  <a:schemeClr val="tx1"/>
                </a:solidFill>
                <a:latin typeface="Times New Roman" panose="02020603050405020304" pitchFamily="18" charset="0"/>
                <a:cs typeface="Times New Roman" panose="02020603050405020304" pitchFamily="18" charset="0"/>
              </a:rPr>
              <a:t>CSE</a:t>
            </a:r>
          </a:p>
          <a:p>
            <a:r>
              <a:rPr lang="en-US" sz="22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lnSpcReduction="10000"/>
          </a:bodyPr>
          <a:lstStyle/>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endParaRPr lang="en-UM" sz="2200"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UM" sz="2200" dirty="0">
                <a:solidFill>
                  <a:schemeClr val="tx1"/>
                </a:solidFill>
                <a:latin typeface="Times New Roman" panose="02020603050405020304" pitchFamily="18" charset="0"/>
                <a:cs typeface="Times New Roman" panose="02020603050405020304" pitchFamily="18" charset="0"/>
              </a:rPr>
              <a:t>Problem Statement</a:t>
            </a:r>
            <a:endParaRPr lang="en-US" sz="2200"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3" name="Content Placeholder 2"/>
          <p:cNvSpPr>
            <a:spLocks noGrp="1"/>
          </p:cNvSpPr>
          <p:nvPr>
            <p:ph sz="quarter" idx="13"/>
          </p:nvPr>
        </p:nvSpPr>
        <p:spPr>
          <a:xfrm>
            <a:off x="609600" y="1143000"/>
            <a:ext cx="10972800" cy="5105400"/>
          </a:xfrm>
        </p:spPr>
        <p:txBody>
          <a:bodyPr>
            <a:normAutofit fontScale="85000" lnSpcReduction="20000"/>
          </a:bodyPr>
          <a:lstStyle/>
          <a:p>
            <a:pPr algn="just">
              <a:lnSpc>
                <a:spcPct val="120000"/>
              </a:lnSpc>
              <a:buFont typeface="Wingdings" panose="05000000000000000000" pitchFamily="2" charset="2"/>
              <a:buChar char="Ø"/>
            </a:pPr>
            <a:r>
              <a:rPr lang="en-GB" sz="2200" b="1" dirty="0">
                <a:solidFill>
                  <a:schemeClr val="tx1"/>
                </a:solidFill>
                <a:latin typeface="Times New Roman" panose="02020603050405020304" pitchFamily="18" charset="0"/>
                <a:cs typeface="Times New Roman" panose="02020603050405020304" pitchFamily="18" charset="0"/>
              </a:rPr>
              <a:t>Dermatological Health Burden: </a:t>
            </a:r>
            <a:r>
              <a:rPr lang="en-GB" sz="2200" dirty="0">
                <a:solidFill>
                  <a:schemeClr val="tx1"/>
                </a:solidFill>
                <a:latin typeface="Times New Roman" panose="02020603050405020304" pitchFamily="18" charset="0"/>
                <a:cs typeface="Times New Roman" panose="02020603050405020304" pitchFamily="18" charset="0"/>
              </a:rPr>
              <a:t>Skin cancer is very common, and harmless-looking spots like moles or brown patches can sometimes hide dangerous melanoma, so doctors need tools that can reliably tell many lesion types apart at an early stage.​</a:t>
            </a:r>
          </a:p>
          <a:p>
            <a:pPr algn="just">
              <a:lnSpc>
                <a:spcPct val="120000"/>
              </a:lnSpc>
              <a:buFont typeface="Wingdings" panose="05000000000000000000" pitchFamily="2" charset="2"/>
              <a:buChar char="Ø"/>
            </a:pPr>
            <a:r>
              <a:rPr lang="en-GB" sz="2400" b="1" dirty="0">
                <a:solidFill>
                  <a:schemeClr val="tx1"/>
                </a:solidFill>
                <a:latin typeface="Times New Roman" panose="02020603050405020304" pitchFamily="18" charset="0"/>
                <a:cs typeface="Times New Roman" panose="02020603050405020304" pitchFamily="18" charset="0"/>
              </a:rPr>
              <a:t>AI-Assisted </a:t>
            </a:r>
            <a:r>
              <a:rPr lang="en-GB" sz="2400" b="1" dirty="0" err="1">
                <a:solidFill>
                  <a:schemeClr val="tx1"/>
                </a:solidFill>
                <a:latin typeface="Times New Roman" panose="02020603050405020304" pitchFamily="18" charset="0"/>
                <a:cs typeface="Times New Roman" panose="02020603050405020304" pitchFamily="18" charset="0"/>
              </a:rPr>
              <a:t>Dermoscopy</a:t>
            </a:r>
            <a:r>
              <a:rPr lang="en-GB" sz="2400" b="1" dirty="0">
                <a:solidFill>
                  <a:schemeClr val="tx1"/>
                </a:solidFill>
                <a:latin typeface="Times New Roman" panose="02020603050405020304" pitchFamily="18" charset="0"/>
                <a:cs typeface="Times New Roman" panose="02020603050405020304" pitchFamily="18" charset="0"/>
              </a:rPr>
              <a:t>: </a:t>
            </a:r>
            <a:r>
              <a:rPr lang="en-GB" sz="2400" dirty="0">
                <a:solidFill>
                  <a:schemeClr val="tx1"/>
                </a:solidFill>
                <a:latin typeface="Times New Roman" panose="02020603050405020304" pitchFamily="18" charset="0"/>
                <a:cs typeface="Times New Roman" panose="02020603050405020304" pitchFamily="18" charset="0"/>
              </a:rPr>
              <a:t>Modern </a:t>
            </a:r>
            <a:r>
              <a:rPr lang="en-GB" sz="2200" dirty="0">
                <a:solidFill>
                  <a:schemeClr val="tx1"/>
                </a:solidFill>
                <a:latin typeface="Times New Roman" panose="02020603050405020304" pitchFamily="18" charset="0"/>
                <a:cs typeface="Times New Roman" panose="02020603050405020304" pitchFamily="18" charset="0"/>
              </a:rPr>
              <a:t>deep learning, especially CNN-based models, can now match dermatologists on datasets like HAM10000 and help automatically classify different kinds of skin lesions from </a:t>
            </a:r>
            <a:r>
              <a:rPr lang="en-GB" sz="2200" dirty="0" err="1">
                <a:solidFill>
                  <a:schemeClr val="tx1"/>
                </a:solidFill>
                <a:latin typeface="Times New Roman" panose="02020603050405020304" pitchFamily="18" charset="0"/>
                <a:cs typeface="Times New Roman" panose="02020603050405020304" pitchFamily="18" charset="0"/>
              </a:rPr>
              <a:t>dermoscopic</a:t>
            </a:r>
            <a:r>
              <a:rPr lang="en-GB" sz="2200" dirty="0">
                <a:solidFill>
                  <a:schemeClr val="tx1"/>
                </a:solidFill>
                <a:latin typeface="Times New Roman" panose="02020603050405020304" pitchFamily="18" charset="0"/>
                <a:cs typeface="Times New Roman" panose="02020603050405020304" pitchFamily="18" charset="0"/>
              </a:rPr>
              <a:t> images</a:t>
            </a:r>
            <a:r>
              <a:rPr lang="en-GB" sz="2400" dirty="0">
                <a:solidFill>
                  <a:schemeClr val="tx1"/>
                </a:solidFill>
                <a:latin typeface="Times New Roman" panose="02020603050405020304" pitchFamily="18" charset="0"/>
                <a:cs typeface="Times New Roman" panose="02020603050405020304" pitchFamily="18" charset="0"/>
              </a:rPr>
              <a:t>.​</a:t>
            </a:r>
          </a:p>
          <a:p>
            <a:pPr algn="just">
              <a:lnSpc>
                <a:spcPct val="120000"/>
              </a:lnSpc>
              <a:buFont typeface="Wingdings" panose="05000000000000000000" pitchFamily="2" charset="2"/>
              <a:buChar char="Ø"/>
            </a:pPr>
            <a:r>
              <a:rPr lang="en-GB" sz="2400" b="1" dirty="0">
                <a:solidFill>
                  <a:schemeClr val="tx1"/>
                </a:solidFill>
                <a:latin typeface="Times New Roman" panose="02020603050405020304" pitchFamily="18" charset="0"/>
                <a:cs typeface="Times New Roman" panose="02020603050405020304" pitchFamily="18" charset="0"/>
              </a:rPr>
              <a:t>Privacy-Preserving Collaboration: </a:t>
            </a:r>
            <a:r>
              <a:rPr lang="en-GB" sz="2400" dirty="0">
                <a:solidFill>
                  <a:schemeClr val="tx1"/>
                </a:solidFill>
                <a:latin typeface="Times New Roman" panose="02020603050405020304" pitchFamily="18" charset="0"/>
                <a:cs typeface="Times New Roman" panose="02020603050405020304" pitchFamily="18" charset="0"/>
              </a:rPr>
              <a:t>In reality, skin images are stored in many hospitals and cannot easily be shared because of strict privacy rules, so federated learning is used to train a shared model while keeping all images inside each institution.​</a:t>
            </a:r>
          </a:p>
          <a:p>
            <a:pPr algn="just">
              <a:lnSpc>
                <a:spcPct val="120000"/>
              </a:lnSpc>
              <a:buFont typeface="Wingdings" panose="05000000000000000000" pitchFamily="2" charset="2"/>
              <a:buChar char="Ø"/>
            </a:pPr>
            <a:r>
              <a:rPr lang="en-GB" sz="2200" b="1" dirty="0">
                <a:solidFill>
                  <a:schemeClr val="tx1"/>
                </a:solidFill>
                <a:latin typeface="Times New Roman" panose="02020603050405020304" pitchFamily="18" charset="0"/>
                <a:cs typeface="Times New Roman" panose="02020603050405020304" pitchFamily="18" charset="0"/>
              </a:rPr>
              <a:t>Hybrid Federated Ensemble: </a:t>
            </a:r>
            <a:r>
              <a:rPr lang="en-GB" sz="2200" dirty="0">
                <a:solidFill>
                  <a:schemeClr val="tx1"/>
                </a:solidFill>
                <a:latin typeface="Times New Roman" panose="02020603050405020304" pitchFamily="18" charset="0"/>
                <a:cs typeface="Times New Roman" panose="02020603050405020304" pitchFamily="18" charset="0"/>
              </a:rPr>
              <a:t>This project builds a federated hybrid model that combines EfficientNetB3 and InceptionV3 with an attention module, training on three uneven (non-IID) clients and using class balancing to handle the highly imbalanced HAM10000 dataset.​</a:t>
            </a:r>
          </a:p>
          <a:p>
            <a:pPr algn="just">
              <a:lnSpc>
                <a:spcPct val="120000"/>
              </a:lnSpc>
              <a:buFont typeface="Wingdings" panose="05000000000000000000" pitchFamily="2" charset="2"/>
              <a:buChar char="Ø"/>
            </a:pPr>
            <a:r>
              <a:rPr lang="en-GB" sz="2200" b="1" dirty="0">
                <a:solidFill>
                  <a:schemeClr val="tx1"/>
                </a:solidFill>
                <a:latin typeface="Times New Roman" panose="02020603050405020304" pitchFamily="18" charset="0"/>
                <a:cs typeface="Times New Roman" panose="02020603050405020304" pitchFamily="18" charset="0"/>
              </a:rPr>
              <a:t>Clinical Impact and Performance: </a:t>
            </a:r>
            <a:r>
              <a:rPr lang="en-GB" sz="2200" dirty="0">
                <a:solidFill>
                  <a:schemeClr val="tx1"/>
                </a:solidFill>
                <a:latin typeface="Times New Roman" panose="02020603050405020304" pitchFamily="18" charset="0"/>
                <a:cs typeface="Times New Roman" panose="02020603050405020304" pitchFamily="18" charset="0"/>
              </a:rPr>
              <a:t>The system reaches over 93% test accuracy without moving raw patient images and applies Grad-CAM to show which lesion regions influenced the prediction, making it suitable for clinician-in-the-loop use in real dermatology practice.</a:t>
            </a:r>
            <a:endParaRPr lang="en-GB" sz="3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3</a:t>
            </a:fld>
            <a:endParaRPr lang="en-US" dirty="0"/>
          </a:p>
        </p:txBody>
      </p:sp>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M" dirty="0">
                <a:solidFill>
                  <a:srgbClr val="7030A0"/>
                </a:solidFill>
                <a:latin typeface="Times New Roman" pitchFamily="18" charset="0"/>
                <a:cs typeface="Times New Roman" pitchFamily="18" charset="0"/>
              </a:rPr>
              <a:t>Problem Statement</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lnSpc>
                <a:spcPct val="150000"/>
              </a:lnSpc>
              <a:buSzPct val="100000"/>
              <a:buFont typeface="Wingdings" panose="05000000000000000000" pitchFamily="2" charset="2"/>
              <a:buChar char="Ø"/>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Centralized Systems:</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Privacy-utility tradeoff; vulnerability to data breaches</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50000"/>
              </a:lnSpc>
              <a:buSzPct val="100000"/>
              <a:buFont typeface="Wingdings" panose="05000000000000000000" pitchFamily="2" charset="2"/>
              <a:buChar char="Ø"/>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Severe Class Imbalance:</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HAM10000 exhibits 58:1 ratio (majority vs minority classes)</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50000"/>
              </a:lnSpc>
              <a:buSzPct val="100000"/>
              <a:buFont typeface="Wingdings" panose="05000000000000000000" pitchFamily="2" charset="2"/>
              <a:buChar char="Ø"/>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Non-IID Data Distribution:</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Real-world hospital data is heterogeneous and skewed</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50000"/>
              </a:lnSpc>
              <a:buSzPct val="100000"/>
              <a:buFont typeface="Wingdings" panose="05000000000000000000" pitchFamily="2" charset="2"/>
              <a:buChar char="Ø"/>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Limited Explainability:</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Most federated methods lack interpretability mechanisms</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50000"/>
              </a:lnSpc>
              <a:buSzPct val="100000"/>
              <a:buFont typeface="Wingdings" panose="05000000000000000000" pitchFamily="2" charset="2"/>
              <a:buChar char="Ø"/>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Multi-Class Complexity:</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7-category classification (Melanoma, Nevi, Keratosis, BCC, AK, Dermatofibroma, Vascular)</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50000"/>
              </a:lnSpc>
              <a:buSzPct val="100000"/>
              <a:buFont typeface="Wingdings" panose="05000000000000000000" pitchFamily="2" charset="2"/>
              <a:buChar char="Ø"/>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Practical Deployment:</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Need for clinician-in-the-loop decision support</a:t>
            </a:r>
            <a:endParaRPr lang="en-US" sz="2000" dirty="0">
              <a:solidFill>
                <a:schemeClr val="tx1"/>
              </a:solidFill>
              <a:latin typeface="Times New Roman" panose="02020603050405020304" pitchFamily="18" charset="0"/>
              <a:cs typeface="Times New Roman" panose="02020603050405020304" pitchFamily="18" charset="0"/>
            </a:endParaRPr>
          </a:p>
          <a:p>
            <a:pPr algn="r">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4</a:t>
            </a:fld>
            <a:endParaRPr lang="en-US" dirty="0"/>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1B732-68D4-A7E1-AD20-305432328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952AC-C116-0434-D9C8-75F3F9B33F0B}"/>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3" name="Content Placeholder 2">
            <a:extLst>
              <a:ext uri="{FF2B5EF4-FFF2-40B4-BE49-F238E27FC236}">
                <a16:creationId xmlns:a16="http://schemas.microsoft.com/office/drawing/2014/main" id="{8DBD88EC-0B0A-6BE2-597A-64E04805B132}"/>
              </a:ext>
            </a:extLst>
          </p:cNvPr>
          <p:cNvSpPr>
            <a:spLocks noGrp="1"/>
          </p:cNvSpPr>
          <p:nvPr>
            <p:ph sz="quarter" idx="13"/>
          </p:nvPr>
        </p:nvSpPr>
        <p:spPr/>
        <p:txBody>
          <a:bodyPr>
            <a:normAutofit/>
          </a:bodyPr>
          <a:lstStyle/>
          <a:p>
            <a:pPr>
              <a:lnSpc>
                <a:spcPts val="2430"/>
              </a:lnSpc>
              <a:buSzPct val="100000"/>
              <a:buFont typeface="Wingdings" panose="05000000000000000000" pitchFamily="2" charset="2"/>
              <a:buChar char="Ø"/>
            </a:pP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Build a hybrid EfficientNetB3-InceptionV3 ensemble with attention-driven feature fusion for 7-class classification on HAM10000</a:t>
            </a:r>
            <a:endParaRPr lang="en-US" sz="2000"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buFont typeface="Wingdings" panose="05000000000000000000" pitchFamily="2" charset="2"/>
              <a:buChar char="Ø"/>
            </a:pP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Implement federated learning environment with 3 non-IID clients using Dirichlet sampling (α=0.5)</a:t>
            </a:r>
            <a:endParaRPr lang="en-US" sz="2000"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buFont typeface="Wingdings" panose="05000000000000000000" pitchFamily="2" charset="2"/>
              <a:buChar char="Ø"/>
            </a:pP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Mitigate class imbalance using </a:t>
            </a:r>
            <a:r>
              <a:rPr lang="en-US" sz="2000" dirty="0" err="1">
                <a:solidFill>
                  <a:schemeClr val="tx1"/>
                </a:solidFill>
                <a:latin typeface="Times New Roman" panose="02020603050405020304" pitchFamily="18" charset="0"/>
                <a:ea typeface="Arial" pitchFamily="34" charset="-122"/>
                <a:cs typeface="Times New Roman" panose="02020603050405020304" pitchFamily="18" charset="0"/>
              </a:rPr>
              <a:t>RandomOverSampler</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(34,573 oversampled training instances)</a:t>
            </a:r>
            <a:endParaRPr lang="en-US" sz="2000"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buFont typeface="Wingdings" panose="05000000000000000000" pitchFamily="2" charset="2"/>
              <a:buChar char="Ø"/>
            </a:pP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Benchmark against strong baselines: VGG-16/19, ResNet-50, DenseNet-121, EfficientNet-B3, Inception-V3, </a:t>
            </a:r>
            <a:r>
              <a:rPr lang="en-US" sz="2000" dirty="0" err="1">
                <a:solidFill>
                  <a:schemeClr val="tx1"/>
                </a:solidFill>
                <a:latin typeface="Times New Roman" panose="02020603050405020304" pitchFamily="18" charset="0"/>
                <a:ea typeface="Arial" pitchFamily="34" charset="-122"/>
                <a:cs typeface="Times New Roman" panose="02020603050405020304" pitchFamily="18" charset="0"/>
              </a:rPr>
              <a:t>ViT</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-B/16, GCN, GAT, Hybrid GCN-GAT</a:t>
            </a:r>
            <a:endParaRPr lang="en-US" sz="2000"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buFont typeface="Wingdings" panose="05000000000000000000" pitchFamily="2" charset="2"/>
              <a:buChar char="Ø"/>
            </a:pP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Achieve privacy preservation with modest communication overhead and small accuracy gap vs centralized training</a:t>
            </a:r>
            <a:endParaRPr lang="en-US" sz="2000"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buFont typeface="Wingdings" panose="05000000000000000000" pitchFamily="2" charset="2"/>
              <a:buChar char="Ø"/>
            </a:pP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Enable explainability through Grad-CAM and saliency maps for clinical deployment</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A9E4DDD-74F8-0687-4DAF-4E8B1DB7D03C}"/>
              </a:ext>
            </a:extLst>
          </p:cNvPr>
          <p:cNvSpPr>
            <a:spLocks noGrp="1"/>
          </p:cNvSpPr>
          <p:nvPr>
            <p:ph type="sldNum" sz="quarter" idx="16"/>
          </p:nvPr>
        </p:nvSpPr>
        <p:spPr/>
        <p:txBody>
          <a:bodyPr/>
          <a:lstStyle/>
          <a:p>
            <a:pPr>
              <a:defRPr/>
            </a:pPr>
            <a:fld id="{4CD333A3-7515-47B8-9EDC-EE0892D9C861}" type="slidenum">
              <a:rPr lang="en-US" smtClean="0"/>
              <a:pPr>
                <a:defRPr/>
              </a:pPr>
              <a:t>5</a:t>
            </a:fld>
            <a:endParaRPr lang="en-US" dirty="0"/>
          </a:p>
        </p:txBody>
      </p:sp>
    </p:spTree>
    <p:extLst>
      <p:ext uri="{BB962C8B-B14F-4D97-AF65-F5344CB8AC3E}">
        <p14:creationId xmlns:p14="http://schemas.microsoft.com/office/powerpoint/2010/main" val="1628311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SzPct val="100000"/>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Melanoma:</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Most dangerous skin cancer; early detection critical for survival</a:t>
            </a:r>
            <a:endParaRPr lang="en-US" sz="2000" dirty="0">
              <a:solidFill>
                <a:schemeClr val="tx1"/>
              </a:solidFill>
              <a:latin typeface="Times New Roman" panose="02020603050405020304" pitchFamily="18" charset="0"/>
              <a:cs typeface="Times New Roman" panose="02020603050405020304" pitchFamily="18" charset="0"/>
            </a:endParaRPr>
          </a:p>
          <a:p>
            <a:pPr>
              <a:buSzPct val="100000"/>
            </a:pPr>
            <a:r>
              <a:rPr lang="en-US" sz="2000" b="1" dirty="0" err="1">
                <a:solidFill>
                  <a:schemeClr val="tx1"/>
                </a:solidFill>
                <a:latin typeface="Times New Roman" panose="02020603050405020304" pitchFamily="18" charset="0"/>
                <a:ea typeface="Arial" pitchFamily="34" charset="-122"/>
                <a:cs typeface="Times New Roman" panose="02020603050405020304" pitchFamily="18" charset="0"/>
              </a:rPr>
              <a:t>Dermoscopic</a:t>
            </a: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 Imaging:</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Non-invasive imaging technique revealing subsurface patterns</a:t>
            </a:r>
            <a:endParaRPr lang="en-US" sz="2000" dirty="0">
              <a:solidFill>
                <a:schemeClr val="tx1"/>
              </a:solidFill>
              <a:latin typeface="Times New Roman" panose="02020603050405020304" pitchFamily="18" charset="0"/>
              <a:cs typeface="Times New Roman" panose="02020603050405020304" pitchFamily="18" charset="0"/>
            </a:endParaRPr>
          </a:p>
          <a:p>
            <a:pPr>
              <a:buSzPct val="100000"/>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HAM10000 Dataset:</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10,015 </a:t>
            </a:r>
            <a:r>
              <a:rPr lang="en-US" sz="2000" dirty="0" err="1">
                <a:solidFill>
                  <a:schemeClr val="tx1"/>
                </a:solidFill>
                <a:latin typeface="Times New Roman" panose="02020603050405020304" pitchFamily="18" charset="0"/>
                <a:ea typeface="Arial" pitchFamily="34" charset="-122"/>
                <a:cs typeface="Times New Roman" panose="02020603050405020304" pitchFamily="18" charset="0"/>
              </a:rPr>
              <a:t>dermoscopic</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images across 7 diagnostic categories</a:t>
            </a:r>
            <a:endParaRPr lang="en-US" sz="2000" dirty="0">
              <a:solidFill>
                <a:schemeClr val="tx1"/>
              </a:solidFill>
              <a:latin typeface="Times New Roman" panose="02020603050405020304" pitchFamily="18" charset="0"/>
              <a:cs typeface="Times New Roman" panose="02020603050405020304" pitchFamily="18" charset="0"/>
            </a:endParaRPr>
          </a:p>
          <a:p>
            <a:pPr>
              <a:buSzPct val="100000"/>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Deep Learning Success:</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CNNs match or exceed dermatologist performance in benchmark tests</a:t>
            </a:r>
            <a:endParaRPr lang="en-US" sz="2000" dirty="0">
              <a:solidFill>
                <a:schemeClr val="tx1"/>
              </a:solidFill>
              <a:latin typeface="Times New Roman" panose="02020603050405020304" pitchFamily="18" charset="0"/>
              <a:cs typeface="Times New Roman" panose="02020603050405020304" pitchFamily="18" charset="0"/>
            </a:endParaRPr>
          </a:p>
          <a:p>
            <a:pPr>
              <a:buSzPct val="100000"/>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Transfer Learning:</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VGG, </a:t>
            </a:r>
            <a:r>
              <a:rPr lang="en-US" sz="2000" dirty="0" err="1">
                <a:solidFill>
                  <a:schemeClr val="tx1"/>
                </a:solidFill>
                <a:latin typeface="Times New Roman" panose="02020603050405020304" pitchFamily="18" charset="0"/>
                <a:ea typeface="Arial" pitchFamily="34" charset="-122"/>
                <a:cs typeface="Times New Roman" panose="02020603050405020304" pitchFamily="18" charset="0"/>
              </a:rPr>
              <a:t>ResNet</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a:t>
            </a:r>
            <a:r>
              <a:rPr lang="en-US" sz="2000" dirty="0" err="1">
                <a:solidFill>
                  <a:schemeClr val="tx1"/>
                </a:solidFill>
                <a:latin typeface="Times New Roman" panose="02020603050405020304" pitchFamily="18" charset="0"/>
                <a:ea typeface="Arial" pitchFamily="34" charset="-122"/>
                <a:cs typeface="Times New Roman" panose="02020603050405020304" pitchFamily="18" charset="0"/>
              </a:rPr>
              <a:t>DenseNet</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a:t>
            </a:r>
            <a:r>
              <a:rPr lang="en-US" sz="2000" dirty="0" err="1">
                <a:solidFill>
                  <a:schemeClr val="tx1"/>
                </a:solidFill>
                <a:latin typeface="Times New Roman" panose="02020603050405020304" pitchFamily="18" charset="0"/>
                <a:ea typeface="Arial" pitchFamily="34" charset="-122"/>
                <a:cs typeface="Times New Roman" panose="02020603050405020304" pitchFamily="18" charset="0"/>
              </a:rPr>
              <a:t>EfficientNet</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show strong performance on </a:t>
            </a:r>
            <a:r>
              <a:rPr lang="en-US" sz="2000" dirty="0" err="1">
                <a:solidFill>
                  <a:schemeClr val="tx1"/>
                </a:solidFill>
                <a:latin typeface="Times New Roman" panose="02020603050405020304" pitchFamily="18" charset="0"/>
                <a:ea typeface="Arial" pitchFamily="34" charset="-122"/>
                <a:cs typeface="Times New Roman" panose="02020603050405020304" pitchFamily="18" charset="0"/>
              </a:rPr>
              <a:t>dermoscopic</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tasks</a:t>
            </a:r>
            <a:endParaRPr lang="en-US" sz="2000" dirty="0">
              <a:solidFill>
                <a:schemeClr val="tx1"/>
              </a:solidFill>
              <a:latin typeface="Times New Roman" panose="02020603050405020304" pitchFamily="18" charset="0"/>
              <a:cs typeface="Times New Roman" panose="02020603050405020304" pitchFamily="18" charset="0"/>
            </a:endParaRPr>
          </a:p>
          <a:p>
            <a:pPr>
              <a:buSzPct val="100000"/>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Challenge:</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Severe class imbalance and privacy constraints in real clinical settings</a:t>
            </a:r>
            <a:endParaRPr lang="en-UM" sz="2000" dirty="0">
              <a:solidFill>
                <a:schemeClr val="tx1"/>
              </a:solidFill>
              <a:latin typeface="Times New Roman" panose="02020603050405020304" pitchFamily="18" charset="0"/>
              <a:ea typeface="Arial" pitchFamily="34" charset="-122"/>
              <a:cs typeface="Times New Roman" panose="02020603050405020304" pitchFamily="18" charset="0"/>
            </a:endParaRPr>
          </a:p>
          <a:p>
            <a:pPr>
              <a:buSzPct val="100000"/>
            </a:pPr>
            <a:r>
              <a:rPr lang="en-UM" sz="2000" b="1" dirty="0">
                <a:solidFill>
                  <a:schemeClr val="tx1"/>
                </a:solidFill>
                <a:latin typeface="Times New Roman" panose="02020603050405020304" pitchFamily="18" charset="0"/>
                <a:cs typeface="Times New Roman" panose="02020603050405020304" pitchFamily="18" charset="0"/>
              </a:rPr>
              <a:t>F</a:t>
            </a:r>
            <a:r>
              <a:rPr lang="en-US" sz="2000" b="1" dirty="0" err="1">
                <a:solidFill>
                  <a:schemeClr val="tx1"/>
                </a:solidFill>
                <a:latin typeface="Times New Roman" panose="02020603050405020304" pitchFamily="18" charset="0"/>
                <a:cs typeface="Times New Roman" panose="02020603050405020304" pitchFamily="18" charset="0"/>
              </a:rPr>
              <a:t>ederated</a:t>
            </a:r>
            <a:r>
              <a:rPr lang="en-US" sz="2000" b="1" dirty="0">
                <a:solidFill>
                  <a:schemeClr val="tx1"/>
                </a:solidFill>
                <a:latin typeface="Times New Roman" panose="02020603050405020304" pitchFamily="18" charset="0"/>
                <a:cs typeface="Times New Roman" panose="02020603050405020304" pitchFamily="18" charset="0"/>
              </a:rPr>
              <a:t> learning</a:t>
            </a: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Distributed machine learning where data stays on-premise; only model parameters shared</a:t>
            </a:r>
            <a:endParaRPr lang="en-US" sz="2000" dirty="0">
              <a:solidFill>
                <a:schemeClr val="tx1"/>
              </a:solidFill>
              <a:latin typeface="Times New Roman" panose="02020603050405020304" pitchFamily="18" charset="0"/>
              <a:cs typeface="Times New Roman" panose="02020603050405020304" pitchFamily="18" charset="0"/>
            </a:endParaRPr>
          </a:p>
          <a:p>
            <a:pPr>
              <a:buSzPct val="100000"/>
            </a:pPr>
            <a:r>
              <a:rPr lang="en-US" sz="2000" b="1" dirty="0" err="1">
                <a:solidFill>
                  <a:schemeClr val="tx1"/>
                </a:solidFill>
                <a:latin typeface="Times New Roman" panose="02020603050405020304" pitchFamily="18" charset="0"/>
                <a:ea typeface="Arial" pitchFamily="34" charset="-122"/>
                <a:cs typeface="Times New Roman" panose="02020603050405020304" pitchFamily="18" charset="0"/>
              </a:rPr>
              <a:t>FedAvg</a:t>
            </a: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 Algorithm:</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Server aggregates client gradients; privacy-preserving aggregation</a:t>
            </a:r>
            <a:endParaRPr lang="en-US" sz="2000" dirty="0">
              <a:solidFill>
                <a:schemeClr val="tx1"/>
              </a:solidFill>
              <a:latin typeface="Times New Roman" panose="02020603050405020304" pitchFamily="18" charset="0"/>
              <a:cs typeface="Times New Roman" panose="02020603050405020304" pitchFamily="18" charset="0"/>
            </a:endParaRPr>
          </a:p>
          <a:p>
            <a:pPr>
              <a:buSzPct val="100000"/>
            </a:pPr>
            <a:r>
              <a:rPr lang="en-US" sz="2000" b="1" dirty="0">
                <a:solidFill>
                  <a:schemeClr val="tx1"/>
                </a:solidFill>
                <a:latin typeface="Times New Roman" panose="02020603050405020304" pitchFamily="18" charset="0"/>
                <a:ea typeface="Arial" pitchFamily="34" charset="-122"/>
                <a:cs typeface="Times New Roman" panose="02020603050405020304" pitchFamily="18" charset="0"/>
              </a:rPr>
              <a:t>Non-IID Data:</a:t>
            </a:r>
            <a:r>
              <a:rPr lang="en-US" sz="2000" dirty="0">
                <a:solidFill>
                  <a:schemeClr val="tx1"/>
                </a:solidFill>
                <a:latin typeface="Times New Roman" panose="02020603050405020304" pitchFamily="18" charset="0"/>
                <a:ea typeface="Arial" pitchFamily="34" charset="-122"/>
                <a:cs typeface="Times New Roman" panose="02020603050405020304" pitchFamily="18" charset="0"/>
              </a:rPr>
              <a:t> Real-world hospital data exhibits heterogeneous class distributions</a:t>
            </a:r>
            <a:endParaRPr lang="en-US" sz="2000" dirty="0">
              <a:solidFill>
                <a:schemeClr val="tx1"/>
              </a:solidFill>
              <a:latin typeface="Times New Roman" panose="02020603050405020304" pitchFamily="18" charset="0"/>
              <a:cs typeface="Times New Roman" panose="02020603050405020304" pitchFamily="18" charset="0"/>
            </a:endParaRPr>
          </a:p>
          <a:p>
            <a:pPr marL="0" indent="0" algn="r">
              <a:lnSpc>
                <a:spcPct val="150000"/>
              </a:lnSpc>
              <a:buNone/>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6</a:t>
            </a:fld>
            <a:endParaRPr lang="en-US" dirty="0"/>
          </a:p>
        </p:txBody>
      </p:sp>
    </p:spTree>
    <p:extLst>
      <p:ext uri="{BB962C8B-B14F-4D97-AF65-F5344CB8AC3E}">
        <p14:creationId xmlns:p14="http://schemas.microsoft.com/office/powerpoint/2010/main" val="3414697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E889E-9903-BFAC-78F5-A53BC4D7C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ABEEE-2AE9-987C-563D-F8A30FB42F40}"/>
              </a:ext>
            </a:extLst>
          </p:cNvPr>
          <p:cNvSpPr>
            <a:spLocks noGrp="1"/>
          </p:cNvSpPr>
          <p:nvPr>
            <p:ph type="title"/>
          </p:nvPr>
        </p:nvSpPr>
        <p:spPr>
          <a:xfrm>
            <a:off x="1981200" y="136524"/>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a:extLst>
              <a:ext uri="{FF2B5EF4-FFF2-40B4-BE49-F238E27FC236}">
                <a16:creationId xmlns:a16="http://schemas.microsoft.com/office/drawing/2014/main" id="{95D95CD3-F71F-46D2-06C4-3F5C8502D0D6}"/>
              </a:ext>
            </a:extLst>
          </p:cNvPr>
          <p:cNvSpPr>
            <a:spLocks noGrp="1"/>
          </p:cNvSpPr>
          <p:nvPr>
            <p:ph type="sldNum" sz="quarter" idx="16"/>
          </p:nvPr>
        </p:nvSpPr>
        <p:spPr/>
        <p:txBody>
          <a:bodyPr/>
          <a:lstStyle/>
          <a:p>
            <a:pPr>
              <a:defRPr/>
            </a:pPr>
            <a:fld id="{4CD333A3-7515-47B8-9EDC-EE0892D9C861}" type="slidenum">
              <a:rPr lang="en-US" smtClean="0"/>
              <a:pPr>
                <a:defRPr/>
              </a:pPr>
              <a:t>7</a:t>
            </a:fld>
            <a:endParaRPr lang="en-US" dirty="0"/>
          </a:p>
        </p:txBody>
      </p:sp>
      <p:graphicFrame>
        <p:nvGraphicFramePr>
          <p:cNvPr id="6" name="Table 5">
            <a:extLst>
              <a:ext uri="{FF2B5EF4-FFF2-40B4-BE49-F238E27FC236}">
                <a16:creationId xmlns:a16="http://schemas.microsoft.com/office/drawing/2014/main" id="{80FD8694-D42C-55F3-3F93-BB4D0EF56F11}"/>
              </a:ext>
            </a:extLst>
          </p:cNvPr>
          <p:cNvGraphicFramePr>
            <a:graphicFrameLocks noGrp="1"/>
          </p:cNvGraphicFramePr>
          <p:nvPr>
            <p:extLst>
              <p:ext uri="{D42A27DB-BD31-4B8C-83A1-F6EECF244321}">
                <p14:modId xmlns:p14="http://schemas.microsoft.com/office/powerpoint/2010/main" val="587338850"/>
              </p:ext>
            </p:extLst>
          </p:nvPr>
        </p:nvGraphicFramePr>
        <p:xfrm>
          <a:off x="609600" y="1004886"/>
          <a:ext cx="10972800" cy="5310825"/>
        </p:xfrm>
        <a:graphic>
          <a:graphicData uri="http://schemas.openxmlformats.org/drawingml/2006/table">
            <a:tbl>
              <a:tblPr firstRow="1" firstCol="1" bandRow="1" bandCol="1">
                <a:tableStyleId>{5940675A-B579-460E-94D1-54222C63F5DA}</a:tableStyleId>
              </a:tblPr>
              <a:tblGrid>
                <a:gridCol w="2194560">
                  <a:extLst>
                    <a:ext uri="{9D8B030D-6E8A-4147-A177-3AD203B41FA5}">
                      <a16:colId xmlns:a16="http://schemas.microsoft.com/office/drawing/2014/main" val="1976259593"/>
                    </a:ext>
                  </a:extLst>
                </a:gridCol>
                <a:gridCol w="2194560">
                  <a:extLst>
                    <a:ext uri="{9D8B030D-6E8A-4147-A177-3AD203B41FA5}">
                      <a16:colId xmlns:a16="http://schemas.microsoft.com/office/drawing/2014/main" val="1114170936"/>
                    </a:ext>
                  </a:extLst>
                </a:gridCol>
                <a:gridCol w="2194560">
                  <a:extLst>
                    <a:ext uri="{9D8B030D-6E8A-4147-A177-3AD203B41FA5}">
                      <a16:colId xmlns:a16="http://schemas.microsoft.com/office/drawing/2014/main" val="3273088731"/>
                    </a:ext>
                  </a:extLst>
                </a:gridCol>
                <a:gridCol w="2194560">
                  <a:extLst>
                    <a:ext uri="{9D8B030D-6E8A-4147-A177-3AD203B41FA5}">
                      <a16:colId xmlns:a16="http://schemas.microsoft.com/office/drawing/2014/main" val="711264508"/>
                    </a:ext>
                  </a:extLst>
                </a:gridCol>
                <a:gridCol w="2194560">
                  <a:extLst>
                    <a:ext uri="{9D8B030D-6E8A-4147-A177-3AD203B41FA5}">
                      <a16:colId xmlns:a16="http://schemas.microsoft.com/office/drawing/2014/main" val="131045918"/>
                    </a:ext>
                  </a:extLst>
                </a:gridCol>
              </a:tblGrid>
              <a:tr h="211885">
                <a:tc>
                  <a:txBody>
                    <a:bodyPr/>
                    <a:lstStyle/>
                    <a:p>
                      <a:pPr marL="0" marR="0">
                        <a:buNone/>
                      </a:pPr>
                      <a:r>
                        <a:rPr lang="en-US" sz="1200" b="1">
                          <a:solidFill>
                            <a:schemeClr val="bg1"/>
                          </a:solidFill>
                          <a:effectLst/>
                        </a:rPr>
                        <a:t>References</a:t>
                      </a:r>
                      <a:endParaRPr lang="en-US" sz="1600" b="1">
                        <a:solidFill>
                          <a:schemeClr val="bg1"/>
                        </a:solidFill>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solidFill>
                      <a:srgbClr val="4F81BD"/>
                    </a:solidFill>
                  </a:tcPr>
                </a:tc>
                <a:tc>
                  <a:txBody>
                    <a:bodyPr/>
                    <a:lstStyle/>
                    <a:p>
                      <a:pPr marL="0" marR="0">
                        <a:buNone/>
                      </a:pPr>
                      <a:r>
                        <a:rPr lang="en-US" sz="1200" b="1">
                          <a:solidFill>
                            <a:schemeClr val="bg1"/>
                          </a:solidFill>
                          <a:effectLst/>
                        </a:rPr>
                        <a:t>Objectives</a:t>
                      </a:r>
                      <a:endParaRPr lang="en-US" sz="1600" b="1">
                        <a:solidFill>
                          <a:schemeClr val="bg1"/>
                        </a:solidFill>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solidFill>
                      <a:srgbClr val="4F81BD"/>
                    </a:solidFill>
                  </a:tcPr>
                </a:tc>
                <a:tc>
                  <a:txBody>
                    <a:bodyPr/>
                    <a:lstStyle/>
                    <a:p>
                      <a:pPr marL="0" marR="0">
                        <a:buNone/>
                      </a:pPr>
                      <a:r>
                        <a:rPr lang="en-US" sz="1200" b="1">
                          <a:solidFill>
                            <a:schemeClr val="bg1"/>
                          </a:solidFill>
                          <a:effectLst/>
                        </a:rPr>
                        <a:t>Methods</a:t>
                      </a:r>
                      <a:endParaRPr lang="en-US" sz="1600" b="1">
                        <a:solidFill>
                          <a:schemeClr val="bg1"/>
                        </a:solidFill>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solidFill>
                      <a:srgbClr val="4F81BD"/>
                    </a:solidFill>
                  </a:tcPr>
                </a:tc>
                <a:tc>
                  <a:txBody>
                    <a:bodyPr/>
                    <a:lstStyle/>
                    <a:p>
                      <a:pPr marL="0" marR="0">
                        <a:buNone/>
                      </a:pPr>
                      <a:r>
                        <a:rPr lang="en-US" sz="1200" b="1">
                          <a:solidFill>
                            <a:schemeClr val="bg1"/>
                          </a:solidFill>
                          <a:effectLst/>
                        </a:rPr>
                        <a:t>Results</a:t>
                      </a:r>
                      <a:endParaRPr lang="en-US" sz="1600" b="1">
                        <a:solidFill>
                          <a:schemeClr val="bg1"/>
                        </a:solidFill>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solidFill>
                      <a:srgbClr val="4F81BD"/>
                    </a:solidFill>
                  </a:tcPr>
                </a:tc>
                <a:tc>
                  <a:txBody>
                    <a:bodyPr/>
                    <a:lstStyle/>
                    <a:p>
                      <a:pPr marL="0" marR="0">
                        <a:buNone/>
                      </a:pPr>
                      <a:r>
                        <a:rPr lang="en-US" sz="1200" b="1" dirty="0">
                          <a:solidFill>
                            <a:schemeClr val="bg1"/>
                          </a:solidFill>
                          <a:effectLst/>
                        </a:rPr>
                        <a:t>Limitations</a:t>
                      </a:r>
                      <a:endParaRPr lang="en-US" sz="1600" b="1" dirty="0">
                        <a:solidFill>
                          <a:schemeClr val="bg1"/>
                        </a:solidFill>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solidFill>
                      <a:srgbClr val="4F81BD"/>
                    </a:solidFill>
                  </a:tcPr>
                </a:tc>
                <a:extLst>
                  <a:ext uri="{0D108BD9-81ED-4DB2-BD59-A6C34878D82A}">
                    <a16:rowId xmlns:a16="http://schemas.microsoft.com/office/drawing/2014/main" val="3342958103"/>
                  </a:ext>
                </a:extLst>
              </a:tr>
              <a:tr h="938815">
                <a:tc>
                  <a:txBody>
                    <a:bodyPr/>
                    <a:lstStyle/>
                    <a:p>
                      <a:pPr marL="0" marR="0" algn="just">
                        <a:buNone/>
                      </a:pPr>
                      <a:r>
                        <a:rPr lang="en-US" sz="1200" dirty="0">
                          <a:effectLst/>
                        </a:rPr>
                        <a:t>Yaqoob et al. [</a:t>
                      </a:r>
                      <a:r>
                        <a:rPr lang="en-UM" sz="1200" dirty="0">
                          <a:effectLst/>
                        </a:rPr>
                        <a:t>1</a:t>
                      </a:r>
                      <a:r>
                        <a:rPr lang="en-US" sz="1200" dirty="0">
                          <a:effectLst/>
                        </a:rPr>
                        <a:t>]</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Privacy-aware skin cancer detection using federated learning with asynchronous training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dirty="0">
                          <a:effectLst/>
                        </a:rPr>
                        <a:t>Asynchronous Federated Learning with </a:t>
                      </a:r>
                      <a:r>
                        <a:rPr lang="en-US" sz="1200" b="1" dirty="0">
                          <a:effectLst/>
                        </a:rPr>
                        <a:t>CNNs</a:t>
                      </a:r>
                      <a:r>
                        <a:rPr lang="en-US" sz="1200" dirty="0">
                          <a:effectLst/>
                        </a:rPr>
                        <a:t> on HAM10000; local model training with delayed aggregation to handle client availability</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b="1" dirty="0">
                          <a:effectLst/>
                        </a:rPr>
                        <a:t>Accuracy: 87.3</a:t>
                      </a:r>
                      <a:r>
                        <a:rPr lang="en-US" sz="1200" dirty="0">
                          <a:effectLst/>
                        </a:rPr>
                        <a:t>%; improved privacy preservation; reduced communication rounds by 40% compared to synchronous FL</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Limited to binary classification (melanoma vs non-melanoma); simple CNN architecture; no attention mechanism for interpretability</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2578297468"/>
                  </a:ext>
                </a:extLst>
              </a:tr>
              <a:tr h="1126578">
                <a:tc>
                  <a:txBody>
                    <a:bodyPr/>
                    <a:lstStyle/>
                    <a:p>
                      <a:pPr marL="0" marR="0" algn="just">
                        <a:buNone/>
                      </a:pPr>
                      <a:r>
                        <a:rPr lang="en-US" sz="1200" dirty="0">
                          <a:effectLst/>
                        </a:rPr>
                        <a:t>Hendrix et al. [</a:t>
                      </a:r>
                      <a:r>
                        <a:rPr lang="en-UM" sz="1200" dirty="0">
                          <a:effectLst/>
                        </a:rPr>
                        <a:t>2</a:t>
                      </a:r>
                      <a:r>
                        <a:rPr lang="en-US" sz="1200" dirty="0">
                          <a:effectLst/>
                        </a:rPr>
                        <a:t>]</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Evidential federated learning with prompt tuning for uncertainty-aware skin lesion classification</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FedEvPrompt integrating Vision Transformers with b-prompts and t-prompts; knowledge distillation on attention maps; evidential learning framework on ISIC2019</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b="1" dirty="0">
                          <a:effectLst/>
                        </a:rPr>
                        <a:t>Accuracy: 91.4%; </a:t>
                      </a:r>
                      <a:r>
                        <a:rPr lang="en-US" sz="1200" dirty="0">
                          <a:effectLst/>
                        </a:rPr>
                        <a:t>improved uncertainty quantification; enhanced privacy by sharing attention maps only (not parameters); handles data heterogeneity</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Computational overhead of Vision Transformers; requires pretrained ViT models; limited evaluation on HAM10000 multi-class problem</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21463736"/>
                  </a:ext>
                </a:extLst>
              </a:tr>
              <a:tr h="1126578">
                <a:tc>
                  <a:txBody>
                    <a:bodyPr/>
                    <a:lstStyle/>
                    <a:p>
                      <a:pPr marL="0" marR="0" algn="just">
                        <a:buNone/>
                      </a:pPr>
                      <a:r>
                        <a:rPr lang="en-US" sz="1200" dirty="0">
                          <a:effectLst/>
                        </a:rPr>
                        <a:t>Tian et al. [</a:t>
                      </a:r>
                      <a:r>
                        <a:rPr lang="en-UM" sz="1200" dirty="0">
                          <a:effectLst/>
                        </a:rPr>
                        <a:t>3</a:t>
                      </a:r>
                      <a:r>
                        <a:rPr lang="en-US" sz="1200" dirty="0">
                          <a:effectLst/>
                        </a:rPr>
                        <a:t>]</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dirty="0">
                          <a:effectLst/>
                        </a:rPr>
                        <a:t>Communication-efficient federated learning using dataset distillation for skin lesion classification</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Generalizable Dataset Distillation (GDD) synthesizing small representative datasets; Gaussian distribution modeling; transmits synthetic images instead of parameters</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dirty="0">
                          <a:effectLst/>
                        </a:rPr>
                        <a:t>50× reduction in communication cost; </a:t>
                      </a:r>
                      <a:r>
                        <a:rPr lang="en-US" sz="1200" b="1" dirty="0">
                          <a:effectLst/>
                        </a:rPr>
                        <a:t>accuracy: 88.6%; </a:t>
                      </a:r>
                      <a:r>
                        <a:rPr lang="en-US" sz="1200" dirty="0">
                          <a:effectLst/>
                        </a:rPr>
                        <a:t>faster convergence (5 rounds vs 20 for </a:t>
                      </a:r>
                      <a:r>
                        <a:rPr lang="en-US" sz="1200" dirty="0" err="1">
                          <a:effectLst/>
                        </a:rPr>
                        <a:t>FedAvg</a:t>
                      </a:r>
                      <a:r>
                        <a:rPr lang="en-US" sz="1200" dirty="0">
                          <a:effectLst/>
                        </a:rPr>
                        <a:t>)</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Synthetic images may lose fine-grained dermatoscopic details; limited to 3-class problem; privacy concerns with sharing synthetic data</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407819964"/>
                  </a:ext>
                </a:extLst>
              </a:tr>
              <a:tr h="1059427">
                <a:tc>
                  <a:txBody>
                    <a:bodyPr/>
                    <a:lstStyle/>
                    <a:p>
                      <a:pPr marL="0" marR="0" algn="just">
                        <a:buNone/>
                      </a:pPr>
                      <a:r>
                        <a:rPr lang="en-US" sz="1200" dirty="0">
                          <a:effectLst/>
                        </a:rPr>
                        <a:t>Shetty et al. [</a:t>
                      </a:r>
                      <a:r>
                        <a:rPr lang="en-UM" sz="1200" dirty="0">
                          <a:effectLst/>
                        </a:rPr>
                        <a:t>4</a:t>
                      </a:r>
                      <a:r>
                        <a:rPr lang="en-US" sz="1200" dirty="0">
                          <a:effectLst/>
                        </a:rPr>
                        <a:t>]</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Multi-class skin lesion classification on HAM10000 using CNN and machine learning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b="1" dirty="0">
                          <a:effectLst/>
                        </a:rPr>
                        <a:t>Custom CNN </a:t>
                      </a:r>
                      <a:r>
                        <a:rPr lang="en-US" sz="1200" dirty="0">
                          <a:effectLst/>
                        </a:rPr>
                        <a:t>architectures with data augmentation; comparison with </a:t>
                      </a:r>
                      <a:r>
                        <a:rPr lang="en-US" sz="1200" b="1" dirty="0">
                          <a:effectLst/>
                        </a:rPr>
                        <a:t>SVM, Random Forest, KNN </a:t>
                      </a:r>
                      <a:r>
                        <a:rPr lang="en-US" sz="1200" dirty="0">
                          <a:effectLst/>
                        </a:rPr>
                        <a:t>on HAM10000 seven classes</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b="1" dirty="0">
                          <a:effectLst/>
                        </a:rPr>
                        <a:t>CNN accuracy: 89.3%; SVM: 72.4%; </a:t>
                      </a:r>
                      <a:r>
                        <a:rPr lang="en-US" sz="1200" dirty="0">
                          <a:effectLst/>
                        </a:rPr>
                        <a:t>Random Forest: 68.1%; effective feature extraction for pigmented lesions</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dirty="0">
                          <a:effectLst/>
                        </a:rPr>
                        <a:t>Centralized training (no privacy preservation); no federated approach; limited generalization to external datasets; class imbalance not addressed</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2431017341"/>
                  </a:ext>
                </a:extLst>
              </a:tr>
              <a:tr h="847542">
                <a:tc>
                  <a:txBody>
                    <a:bodyPr/>
                    <a:lstStyle/>
                    <a:p>
                      <a:pPr marL="0" marR="0" algn="just">
                        <a:buNone/>
                      </a:pPr>
                      <a:r>
                        <a:rPr lang="en-US" sz="1200" dirty="0">
                          <a:effectLst/>
                        </a:rPr>
                        <a:t>Deng et al. [</a:t>
                      </a:r>
                      <a:r>
                        <a:rPr lang="en-UM" sz="1200" dirty="0">
                          <a:effectLst/>
                        </a:rPr>
                        <a:t>5</a:t>
                      </a:r>
                      <a:r>
                        <a:rPr lang="en-US" sz="1200" dirty="0">
                          <a:effectLst/>
                        </a:rPr>
                        <a:t>]</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Federated active learning for efficient annotation in skin lesion classification</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Active learning strategy selecting informative samples for annotation; federated setup with uncertainty sampling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a:effectLst/>
                        </a:rPr>
                        <a:t>Achieved state-of-the-art performance using only 50% of annotated samples; reduced annotation cost by 50%</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buNone/>
                      </a:pPr>
                      <a:r>
                        <a:rPr lang="en-US" sz="1200" dirty="0">
                          <a:effectLst/>
                        </a:rPr>
                        <a:t>Requires initial labeled data; uncertainty estimation overhead; limited evaluation on rare lesion classes</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3346156486"/>
                  </a:ext>
                </a:extLst>
              </a:tr>
            </a:tbl>
          </a:graphicData>
        </a:graphic>
      </p:graphicFrame>
    </p:spTree>
    <p:extLst>
      <p:ext uri="{BB962C8B-B14F-4D97-AF65-F5344CB8AC3E}">
        <p14:creationId xmlns:p14="http://schemas.microsoft.com/office/powerpoint/2010/main" val="2066590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3" name="Content Placeholder 2"/>
          <p:cNvSpPr>
            <a:spLocks noGrp="1"/>
          </p:cNvSpPr>
          <p:nvPr>
            <p:ph sz="quarter" idx="13"/>
          </p:nvPr>
        </p:nvSpPr>
        <p:spPr/>
        <p:txBody>
          <a:bodyPr>
            <a:normAutofit fontScale="92500" lnSpcReduction="10000"/>
          </a:bodyPr>
          <a:lstStyle/>
          <a:p>
            <a:pPr algn="just">
              <a:lnSpc>
                <a:spcPct val="110000"/>
              </a:lnSpc>
              <a:buFont typeface="Wingdings" panose="05000000000000000000" pitchFamily="2" charset="2"/>
              <a:buChar char="Ø"/>
            </a:pPr>
            <a:r>
              <a:rPr lang="en-GB" sz="2000" dirty="0">
                <a:solidFill>
                  <a:schemeClr val="tx1"/>
                </a:solidFill>
                <a:latin typeface="Times New Roman" panose="02020603050405020304" pitchFamily="18" charset="0"/>
                <a:cs typeface="Times New Roman" panose="02020603050405020304" pitchFamily="18" charset="0"/>
              </a:rPr>
              <a:t>Most existing studies focus on binary melanoma vs non‑melanoma, while real clinics need reliable seven‑class skin‑lesion classification on HAM10000.​</a:t>
            </a:r>
          </a:p>
          <a:p>
            <a:pPr algn="just">
              <a:lnSpc>
                <a:spcPct val="110000"/>
              </a:lnSpc>
              <a:buFont typeface="Wingdings" panose="05000000000000000000" pitchFamily="2" charset="2"/>
              <a:buChar char="Ø"/>
            </a:pPr>
            <a:r>
              <a:rPr lang="en-GB" sz="2000" dirty="0">
                <a:solidFill>
                  <a:schemeClr val="tx1"/>
                </a:solidFill>
                <a:latin typeface="Times New Roman" panose="02020603050405020304" pitchFamily="18" charset="0"/>
                <a:cs typeface="Times New Roman" panose="02020603050405020304" pitchFamily="18" charset="0"/>
              </a:rPr>
              <a:t>Prior federated learning work in dermatology often ignores non‑IID client distributions or evaluates only on small or simplified settings.​</a:t>
            </a:r>
          </a:p>
          <a:p>
            <a:pPr algn="just">
              <a:lnSpc>
                <a:spcPct val="110000"/>
              </a:lnSpc>
              <a:buFont typeface="Wingdings" panose="05000000000000000000" pitchFamily="2" charset="2"/>
              <a:buChar char="Ø"/>
            </a:pPr>
            <a:r>
              <a:rPr lang="en-GB" sz="2000" dirty="0">
                <a:solidFill>
                  <a:schemeClr val="tx1"/>
                </a:solidFill>
                <a:latin typeface="Times New Roman" panose="02020603050405020304" pitchFamily="18" charset="0"/>
                <a:cs typeface="Times New Roman" panose="02020603050405020304" pitchFamily="18" charset="0"/>
              </a:rPr>
              <a:t>Many CNN and ensemble methods are centralized, so they do not protect patient privacy or support multi‑institution collaboration.​</a:t>
            </a:r>
          </a:p>
          <a:p>
            <a:pPr algn="just">
              <a:lnSpc>
                <a:spcPct val="110000"/>
              </a:lnSpc>
              <a:buFont typeface="Wingdings" panose="05000000000000000000" pitchFamily="2" charset="2"/>
              <a:buChar char="Ø"/>
            </a:pPr>
            <a:r>
              <a:rPr lang="en-GB" sz="2000" dirty="0">
                <a:solidFill>
                  <a:schemeClr val="tx1"/>
                </a:solidFill>
                <a:latin typeface="Times New Roman" panose="02020603050405020304" pitchFamily="18" charset="0"/>
                <a:cs typeface="Times New Roman" panose="02020603050405020304" pitchFamily="18" charset="0"/>
              </a:rPr>
              <a:t>Severe class imbalance is usually handled only with simple augmentation, not with explicit oversampling and detailed ablation analysis.​</a:t>
            </a:r>
          </a:p>
          <a:p>
            <a:pPr algn="just">
              <a:lnSpc>
                <a:spcPct val="110000"/>
              </a:lnSpc>
              <a:buFont typeface="Wingdings" panose="05000000000000000000" pitchFamily="2" charset="2"/>
              <a:buChar char="Ø"/>
            </a:pPr>
            <a:r>
              <a:rPr lang="en-GB" sz="2000" dirty="0">
                <a:solidFill>
                  <a:schemeClr val="tx1"/>
                </a:solidFill>
                <a:latin typeface="Times New Roman" panose="02020603050405020304" pitchFamily="18" charset="0"/>
                <a:cs typeface="Times New Roman" panose="02020603050405020304" pitchFamily="18" charset="0"/>
              </a:rPr>
              <a:t>Very few methods combine a hybrid dual‑backbone with attention, federated training, and Grad‑CAM–based explainability in a single deployable system.</a:t>
            </a:r>
            <a:endParaRPr lang="en-UM" sz="2000" dirty="0">
              <a:solidFill>
                <a:schemeClr val="tx1"/>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GB" sz="2000" dirty="0">
                <a:solidFill>
                  <a:schemeClr val="tx1"/>
                </a:solidFill>
                <a:latin typeface="Times New Roman" panose="02020603050405020304" pitchFamily="18" charset="0"/>
                <a:cs typeface="Times New Roman" panose="02020603050405020304" pitchFamily="18" charset="0"/>
              </a:rPr>
              <a:t>Most prior works stop at offline model evaluation and do not provide an end-to-end deployable system or user interface for real clinical use.</a:t>
            </a:r>
          </a:p>
          <a:p>
            <a:pPr algn="r">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8</a:t>
            </a:fld>
            <a:endParaRPr lang="en-US" dirty="0"/>
          </a:p>
        </p:txBody>
      </p:sp>
    </p:spTree>
    <p:extLst>
      <p:ext uri="{BB962C8B-B14F-4D97-AF65-F5344CB8AC3E}">
        <p14:creationId xmlns:p14="http://schemas.microsoft.com/office/powerpoint/2010/main" val="825664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3" name="Content Placeholder 2"/>
          <p:cNvSpPr>
            <a:spLocks noGrp="1"/>
          </p:cNvSpPr>
          <p:nvPr>
            <p:ph sz="quarter" idx="13"/>
          </p:nvPr>
        </p:nvSpPr>
        <p:spPr>
          <a:xfrm>
            <a:off x="609600" y="1219200"/>
            <a:ext cx="4953000" cy="4953000"/>
          </a:xfrm>
        </p:spPr>
        <p:txBody>
          <a:bodyPr>
            <a:normAutofit/>
          </a:bodyPr>
          <a:lstStyle/>
          <a:p>
            <a:pPr marL="0" indent="0" algn="just">
              <a:buFont typeface="Wingdings" pitchFamily="2" charset="2"/>
              <a:buChar char="Ø"/>
            </a:pPr>
            <a:r>
              <a:rPr lang="en-US" sz="1800" b="1" dirty="0">
                <a:solidFill>
                  <a:schemeClr val="tx1"/>
                </a:solidFill>
              </a:rPr>
              <a:t>Data Acquisition:</a:t>
            </a:r>
            <a:r>
              <a:rPr lang="en-UM" sz="1800" b="1" dirty="0">
                <a:solidFill>
                  <a:schemeClr val="tx1"/>
                </a:solidFill>
              </a:rPr>
              <a:t> </a:t>
            </a:r>
            <a:r>
              <a:rPr lang="en-GB" sz="1800" dirty="0">
                <a:solidFill>
                  <a:schemeClr val="tx1"/>
                </a:solidFill>
                <a:latin typeface="Times New Roman" panose="02020603050405020304" pitchFamily="18" charset="0"/>
                <a:cs typeface="Times New Roman" panose="02020603050405020304" pitchFamily="18" charset="0"/>
              </a:rPr>
              <a:t>The HAM10000 dataset provides 10,015 </a:t>
            </a:r>
            <a:r>
              <a:rPr lang="en-GB" sz="1800" dirty="0" err="1">
                <a:solidFill>
                  <a:schemeClr val="tx1"/>
                </a:solidFill>
                <a:latin typeface="Times New Roman" panose="02020603050405020304" pitchFamily="18" charset="0"/>
                <a:cs typeface="Times New Roman" panose="02020603050405020304" pitchFamily="18" charset="0"/>
              </a:rPr>
              <a:t>dermatoscopic</a:t>
            </a:r>
            <a:r>
              <a:rPr lang="en-GB" sz="1800" dirty="0">
                <a:solidFill>
                  <a:schemeClr val="tx1"/>
                </a:solidFill>
                <a:latin typeface="Times New Roman" panose="02020603050405020304" pitchFamily="18" charset="0"/>
                <a:cs typeface="Times New Roman" panose="02020603050405020304" pitchFamily="18" charset="0"/>
              </a:rPr>
              <a:t> RGB images of seven clinically diagnosed pigmented skin lesion categories, along with patient and acquisition metadata, which are resized to 300×300 pixels for this study</a:t>
            </a:r>
            <a:endParaRPr lang="en-UM" sz="1800" dirty="0">
              <a:solidFill>
                <a:schemeClr val="tx1"/>
              </a:solidFill>
              <a:latin typeface="Times New Roman" panose="02020603050405020304" pitchFamily="18" charset="0"/>
              <a:cs typeface="Times New Roman" panose="02020603050405020304" pitchFamily="18" charset="0"/>
            </a:endParaRPr>
          </a:p>
          <a:p>
            <a:pPr marL="0" indent="0">
              <a:buFont typeface="Wingdings" pitchFamily="2" charset="2"/>
              <a:buChar char="Ø"/>
            </a:pPr>
            <a:r>
              <a:rPr lang="en-US" sz="1800" b="1" dirty="0">
                <a:solidFill>
                  <a:schemeClr val="tx1"/>
                </a:solidFill>
                <a:latin typeface="Times New Roman" panose="02020603050405020304" pitchFamily="18" charset="0"/>
                <a:cs typeface="Times New Roman" panose="02020603050405020304" pitchFamily="18" charset="0"/>
              </a:rPr>
              <a:t>Data Preprocessing and Augmentation</a:t>
            </a:r>
            <a:r>
              <a:rPr lang="en-UM" sz="1800" b="1" dirty="0">
                <a:solidFill>
                  <a:schemeClr val="tx1"/>
                </a:solidFill>
                <a:latin typeface="Times New Roman" panose="02020603050405020304" pitchFamily="18" charset="0"/>
                <a:cs typeface="Times New Roman" panose="02020603050405020304" pitchFamily="18" charset="0"/>
              </a:rPr>
              <a:t>: </a:t>
            </a:r>
          </a:p>
          <a:p>
            <a:pPr marL="0" indent="0" algn="just">
              <a:buNone/>
            </a:pPr>
            <a:r>
              <a:rPr lang="en-GB" sz="1800" dirty="0">
                <a:solidFill>
                  <a:schemeClr val="tx1"/>
                </a:solidFill>
                <a:latin typeface="Times New Roman" panose="02020603050405020304" pitchFamily="18" charset="0"/>
                <a:cs typeface="Times New Roman" panose="02020603050405020304" pitchFamily="18" charset="0"/>
              </a:rPr>
              <a:t>All </a:t>
            </a:r>
            <a:r>
              <a:rPr lang="en-GB" sz="1800" dirty="0" err="1">
                <a:solidFill>
                  <a:schemeClr val="tx1"/>
                </a:solidFill>
                <a:latin typeface="Times New Roman" panose="02020603050405020304" pitchFamily="18" charset="0"/>
                <a:cs typeface="Times New Roman" panose="02020603050405020304" pitchFamily="18" charset="0"/>
              </a:rPr>
              <a:t>dermoscopic</a:t>
            </a:r>
            <a:r>
              <a:rPr lang="en-GB" sz="1800" dirty="0">
                <a:solidFill>
                  <a:schemeClr val="tx1"/>
                </a:solidFill>
                <a:latin typeface="Times New Roman" panose="02020603050405020304" pitchFamily="18" charset="0"/>
                <a:cs typeface="Times New Roman" panose="02020603050405020304" pitchFamily="18" charset="0"/>
              </a:rPr>
              <a:t> images are resized to 300×300 pixels in RGB space and normalized using dataset-specific statistics to ensure consistent input for the hybrid EfficientNetB3–InceptionV3 model.​</a:t>
            </a:r>
            <a:r>
              <a:rPr lang="en-UM" sz="1800" dirty="0">
                <a:solidFill>
                  <a:schemeClr val="tx1"/>
                </a:solidFill>
                <a:latin typeface="Times New Roman" panose="02020603050405020304" pitchFamily="18" charset="0"/>
                <a:cs typeface="Times New Roman" panose="02020603050405020304" pitchFamily="18" charset="0"/>
              </a:rPr>
              <a:t> </a:t>
            </a:r>
            <a:r>
              <a:rPr lang="en-GB" sz="1800" dirty="0">
                <a:solidFill>
                  <a:schemeClr val="tx1"/>
                </a:solidFill>
                <a:latin typeface="Times New Roman" panose="02020603050405020304" pitchFamily="18" charset="0"/>
                <a:cs typeface="Times New Roman" panose="02020603050405020304" pitchFamily="18" charset="0"/>
              </a:rPr>
              <a:t>During training, random augmentations such as flips, rotations, zoom, and </a:t>
            </a:r>
            <a:r>
              <a:rPr lang="en-GB" sz="1800" dirty="0" err="1">
                <a:solidFill>
                  <a:schemeClr val="tx1"/>
                </a:solidFill>
                <a:latin typeface="Times New Roman" panose="02020603050405020304" pitchFamily="18" charset="0"/>
                <a:cs typeface="Times New Roman" panose="02020603050405020304" pitchFamily="18" charset="0"/>
              </a:rPr>
              <a:t>color</a:t>
            </a:r>
            <a:r>
              <a:rPr lang="en-GB" sz="1800" dirty="0">
                <a:solidFill>
                  <a:schemeClr val="tx1"/>
                </a:solidFill>
                <a:latin typeface="Times New Roman" panose="02020603050405020304" pitchFamily="18" charset="0"/>
                <a:cs typeface="Times New Roman" panose="02020603050405020304" pitchFamily="18" charset="0"/>
              </a:rPr>
              <a:t> jitter are applied to increase data diversity and reduce overfitting, especially for minority lesion classes</a:t>
            </a:r>
            <a:r>
              <a:rPr lang="en-GB" sz="2300" dirty="0">
                <a:solidFill>
                  <a:schemeClr val="tx1"/>
                </a:solidFill>
                <a:latin typeface="Times New Roman" panose="02020603050405020304" pitchFamily="18" charset="0"/>
                <a:cs typeface="Times New Roman" panose="02020603050405020304" pitchFamily="18" charset="0"/>
              </a:rPr>
              <a:t>.</a:t>
            </a:r>
            <a:r>
              <a:rPr lang="en-UM" sz="1800" b="1" dirty="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marL="0" indent="0" algn="just">
              <a:buFont typeface="Wingdings" pitchFamily="2" charset="2"/>
              <a:buChar char="Ø"/>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9</a:t>
            </a:fld>
            <a:endParaRPr lang="en-US" dirty="0"/>
          </a:p>
        </p:txBody>
      </p:sp>
      <p:grpSp>
        <p:nvGrpSpPr>
          <p:cNvPr id="10" name="Group 9">
            <a:extLst>
              <a:ext uri="{FF2B5EF4-FFF2-40B4-BE49-F238E27FC236}">
                <a16:creationId xmlns:a16="http://schemas.microsoft.com/office/drawing/2014/main" id="{35549DE7-E999-9B23-8D04-36B68C425E6A}"/>
              </a:ext>
            </a:extLst>
          </p:cNvPr>
          <p:cNvGrpSpPr/>
          <p:nvPr/>
        </p:nvGrpSpPr>
        <p:grpSpPr>
          <a:xfrm>
            <a:off x="5943600" y="1219200"/>
            <a:ext cx="5497686" cy="2209800"/>
            <a:chOff x="5943600" y="1219200"/>
            <a:chExt cx="5497686" cy="2209800"/>
          </a:xfrm>
        </p:grpSpPr>
        <p:pic>
          <p:nvPicPr>
            <p:cNvPr id="8" name="Picture 7">
              <a:extLst>
                <a:ext uri="{FF2B5EF4-FFF2-40B4-BE49-F238E27FC236}">
                  <a16:creationId xmlns:a16="http://schemas.microsoft.com/office/drawing/2014/main" id="{C6E67DE3-50BE-C283-097A-4F7B3129F63B}"/>
                </a:ext>
              </a:extLst>
            </p:cNvPr>
            <p:cNvPicPr>
              <a:picLocks noChangeAspect="1"/>
            </p:cNvPicPr>
            <p:nvPr/>
          </p:nvPicPr>
          <p:blipFill>
            <a:blip r:embed="rId2"/>
            <a:stretch>
              <a:fillRect/>
            </a:stretch>
          </p:blipFill>
          <p:spPr>
            <a:xfrm>
              <a:off x="6629400" y="2322708"/>
              <a:ext cx="4430886" cy="1106292"/>
            </a:xfrm>
            <a:prstGeom prst="rect">
              <a:avLst/>
            </a:prstGeom>
          </p:spPr>
        </p:pic>
        <p:pic>
          <p:nvPicPr>
            <p:cNvPr id="9" name="Picture 8">
              <a:extLst>
                <a:ext uri="{FF2B5EF4-FFF2-40B4-BE49-F238E27FC236}">
                  <a16:creationId xmlns:a16="http://schemas.microsoft.com/office/drawing/2014/main" id="{E113A4BE-A4EC-8E52-7446-BC8F76D7E255}"/>
                </a:ext>
              </a:extLst>
            </p:cNvPr>
            <p:cNvPicPr>
              <a:picLocks noChangeAspect="1"/>
            </p:cNvPicPr>
            <p:nvPr/>
          </p:nvPicPr>
          <p:blipFill>
            <a:blip r:embed="rId3"/>
            <a:stretch>
              <a:fillRect/>
            </a:stretch>
          </p:blipFill>
          <p:spPr>
            <a:xfrm>
              <a:off x="5943600" y="1219200"/>
              <a:ext cx="5497686" cy="1133631"/>
            </a:xfrm>
            <a:prstGeom prst="rect">
              <a:avLst/>
            </a:prstGeom>
          </p:spPr>
        </p:pic>
      </p:grpSp>
      <p:sp>
        <p:nvSpPr>
          <p:cNvPr id="11" name="TextBox 10">
            <a:extLst>
              <a:ext uri="{FF2B5EF4-FFF2-40B4-BE49-F238E27FC236}">
                <a16:creationId xmlns:a16="http://schemas.microsoft.com/office/drawing/2014/main" id="{ED8D5B2C-A5B1-F344-E819-B4E3ED615E2F}"/>
              </a:ext>
            </a:extLst>
          </p:cNvPr>
          <p:cNvSpPr txBox="1"/>
          <p:nvPr/>
        </p:nvSpPr>
        <p:spPr>
          <a:xfrm>
            <a:off x="5781657" y="3554896"/>
            <a:ext cx="6126372" cy="523220"/>
          </a:xfrm>
          <a:prstGeom prst="rect">
            <a:avLst/>
          </a:prstGeom>
          <a:noFill/>
        </p:spPr>
        <p:txBody>
          <a:bodyPr wrap="square" rtlCol="0">
            <a:spAutoFit/>
          </a:bodyPr>
          <a:lstStyle/>
          <a:p>
            <a:pPr algn="ctr"/>
            <a:r>
              <a:rPr lang="en-UM" sz="1400" dirty="0">
                <a:latin typeface="Times New Roman" panose="02020603050405020304" pitchFamily="18" charset="0"/>
                <a:cs typeface="Times New Roman" panose="02020603050405020304" pitchFamily="18" charset="0"/>
              </a:rPr>
              <a:t>Fig. 1. </a:t>
            </a:r>
            <a:r>
              <a:rPr lang="en-GB" sz="1400" dirty="0">
                <a:latin typeface="Times New Roman" panose="02020603050405020304" pitchFamily="18" charset="0"/>
                <a:cs typeface="Times New Roman" panose="02020603050405020304" pitchFamily="18" charset="0"/>
              </a:rPr>
              <a:t>Representative </a:t>
            </a:r>
            <a:r>
              <a:rPr lang="en-GB" sz="1400" dirty="0" err="1">
                <a:latin typeface="Times New Roman" panose="02020603050405020304" pitchFamily="18" charset="0"/>
                <a:cs typeface="Times New Roman" panose="02020603050405020304" pitchFamily="18" charset="0"/>
              </a:rPr>
              <a:t>Dermoscopic</a:t>
            </a:r>
            <a:r>
              <a:rPr lang="en-GB" sz="1400" dirty="0">
                <a:latin typeface="Times New Roman" panose="02020603050405020304" pitchFamily="18" charset="0"/>
                <a:cs typeface="Times New Roman" panose="02020603050405020304" pitchFamily="18" charset="0"/>
              </a:rPr>
              <a:t> Images of the Seven</a:t>
            </a:r>
            <a:r>
              <a:rPr lang="en-UM"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HAM10000 Skin Lesion Categories</a:t>
            </a:r>
            <a:endParaRPr lang="en-US" sz="1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33AE566-A8B0-067A-178F-E67BC93A0765}"/>
              </a:ext>
            </a:extLst>
          </p:cNvPr>
          <p:cNvPicPr>
            <a:picLocks noChangeAspect="1"/>
          </p:cNvPicPr>
          <p:nvPr/>
        </p:nvPicPr>
        <p:blipFill>
          <a:blip r:embed="rId4"/>
          <a:stretch>
            <a:fillRect/>
          </a:stretch>
        </p:blipFill>
        <p:spPr>
          <a:xfrm>
            <a:off x="5943600" y="4204012"/>
            <a:ext cx="5736833" cy="1274174"/>
          </a:xfrm>
          <a:prstGeom prst="rect">
            <a:avLst/>
          </a:prstGeom>
        </p:spPr>
      </p:pic>
      <p:sp>
        <p:nvSpPr>
          <p:cNvPr id="6" name="TextBox 5">
            <a:extLst>
              <a:ext uri="{FF2B5EF4-FFF2-40B4-BE49-F238E27FC236}">
                <a16:creationId xmlns:a16="http://schemas.microsoft.com/office/drawing/2014/main" id="{A5B584AD-4752-A13E-E041-F0D9B687F054}"/>
              </a:ext>
            </a:extLst>
          </p:cNvPr>
          <p:cNvSpPr txBox="1"/>
          <p:nvPr/>
        </p:nvSpPr>
        <p:spPr>
          <a:xfrm>
            <a:off x="5867400" y="5579286"/>
            <a:ext cx="6126372"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 </a:t>
            </a:r>
            <a:r>
              <a:rPr lang="en-UM" sz="1400" dirty="0">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 Examples of Random Data Augmentations Applied to a </a:t>
            </a:r>
            <a:r>
              <a:rPr lang="en-US" sz="1400" dirty="0" err="1">
                <a:latin typeface="Times New Roman" panose="02020603050405020304" pitchFamily="18" charset="0"/>
                <a:cs typeface="Times New Roman" panose="02020603050405020304" pitchFamily="18" charset="0"/>
              </a:rPr>
              <a:t>Dermoscopic</a:t>
            </a:r>
            <a:r>
              <a:rPr lang="en-US" sz="1400" dirty="0">
                <a:latin typeface="Times New Roman" panose="02020603050405020304" pitchFamily="18" charset="0"/>
                <a:cs typeface="Times New Roman" panose="02020603050405020304" pitchFamily="18" charset="0"/>
              </a:rPr>
              <a:t> Image</a:t>
            </a:r>
          </a:p>
        </p:txBody>
      </p:sp>
    </p:spTree>
    <p:extLst>
      <p:ext uri="{BB962C8B-B14F-4D97-AF65-F5344CB8AC3E}">
        <p14:creationId xmlns:p14="http://schemas.microsoft.com/office/powerpoint/2010/main" val="925644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70C63-A3FA-4E42-FD31-CB964E7E9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D1416-F8E2-E464-64DC-1D863F60188B}"/>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3" name="Content Placeholder 2">
            <a:extLst>
              <a:ext uri="{FF2B5EF4-FFF2-40B4-BE49-F238E27FC236}">
                <a16:creationId xmlns:a16="http://schemas.microsoft.com/office/drawing/2014/main" id="{8D205C37-E915-8A0D-22C4-038E1F7B78F5}"/>
              </a:ext>
            </a:extLst>
          </p:cNvPr>
          <p:cNvSpPr>
            <a:spLocks noGrp="1"/>
          </p:cNvSpPr>
          <p:nvPr>
            <p:ph sz="quarter" idx="13"/>
          </p:nvPr>
        </p:nvSpPr>
        <p:spPr>
          <a:xfrm>
            <a:off x="609600" y="1219200"/>
            <a:ext cx="4953000" cy="4953000"/>
          </a:xfrm>
        </p:spPr>
        <p:txBody>
          <a:bodyPr>
            <a:normAutofit/>
          </a:bodyPr>
          <a:lstStyle/>
          <a:p>
            <a:pPr marL="0" indent="0">
              <a:buFont typeface="Wingdings" pitchFamily="2" charset="2"/>
              <a:buChar char="Ø"/>
            </a:pPr>
            <a:r>
              <a:rPr lang="en-US" sz="1800" b="1" dirty="0">
                <a:solidFill>
                  <a:schemeClr val="tx1"/>
                </a:solidFill>
                <a:latin typeface="Times New Roman" panose="02020603050405020304" pitchFamily="18" charset="0"/>
                <a:cs typeface="Times New Roman" panose="02020603050405020304" pitchFamily="18" charset="0"/>
              </a:rPr>
              <a:t>Class Imbalance Handling:</a:t>
            </a:r>
            <a:endParaRPr lang="en-UM" sz="1800" b="1"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M" sz="1800" b="1" dirty="0">
                <a:solidFill>
                  <a:schemeClr val="tx1"/>
                </a:solidFill>
                <a:latin typeface="Times New Roman" panose="02020603050405020304" pitchFamily="18" charset="0"/>
                <a:cs typeface="Times New Roman" panose="02020603050405020304" pitchFamily="18" charset="0"/>
              </a:rPr>
              <a:t> </a:t>
            </a:r>
            <a:r>
              <a:rPr lang="en-GB" sz="1800" dirty="0" err="1">
                <a:solidFill>
                  <a:schemeClr val="tx1"/>
                </a:solidFill>
                <a:latin typeface="Times New Roman" panose="02020603050405020304" pitchFamily="18" charset="0"/>
                <a:cs typeface="Times New Roman" panose="02020603050405020304" pitchFamily="18" charset="0"/>
              </a:rPr>
              <a:t>RandomOverSampler</a:t>
            </a:r>
            <a:r>
              <a:rPr lang="en-GB" sz="1800" dirty="0">
                <a:solidFill>
                  <a:schemeClr val="tx1"/>
                </a:solidFill>
                <a:latin typeface="Times New Roman" panose="02020603050405020304" pitchFamily="18" charset="0"/>
                <a:cs typeface="Times New Roman" panose="02020603050405020304" pitchFamily="18" charset="0"/>
              </a:rPr>
              <a:t> is applied on the training split to expand minority lesion classes and transform the highly skewed HAM10000 distribution into a more balanced dataset of 34,573 images.​ This helps the federated hybrid ensemble avoid bias toward common benign lesions and improves sensitivity for rare but clinically critical classes such as melanoma and vascular lesions.</a:t>
            </a:r>
            <a:endParaRPr lang="en-UM" sz="1800" dirty="0">
              <a:solidFill>
                <a:schemeClr val="tx1"/>
              </a:solidFill>
              <a:latin typeface="Times New Roman" panose="02020603050405020304" pitchFamily="18" charset="0"/>
              <a:cs typeface="Times New Roman" panose="02020603050405020304" pitchFamily="18" charset="0"/>
            </a:endParaRPr>
          </a:p>
          <a:p>
            <a:pPr marL="0" indent="0">
              <a:buFont typeface="Wingdings" pitchFamily="2" charset="2"/>
              <a:buChar char="Ø"/>
            </a:pPr>
            <a:r>
              <a:rPr lang="en-US" sz="1800" b="1" dirty="0">
                <a:solidFill>
                  <a:schemeClr val="tx1"/>
                </a:solidFill>
                <a:latin typeface="Times New Roman" panose="02020603050405020304" pitchFamily="18" charset="0"/>
                <a:cs typeface="Times New Roman" panose="02020603050405020304" pitchFamily="18" charset="0"/>
              </a:rPr>
              <a:t>Data </a:t>
            </a:r>
            <a:r>
              <a:rPr lang="en-UM" sz="1800" b="1" dirty="0">
                <a:solidFill>
                  <a:schemeClr val="tx1"/>
                </a:solidFill>
                <a:latin typeface="Times New Roman" panose="02020603050405020304" pitchFamily="18" charset="0"/>
                <a:cs typeface="Times New Roman" panose="02020603050405020304" pitchFamily="18" charset="0"/>
              </a:rPr>
              <a:t>Splitting: </a:t>
            </a:r>
            <a:r>
              <a:rPr lang="en-GB" sz="1800" dirty="0">
                <a:solidFill>
                  <a:schemeClr val="tx1"/>
                </a:solidFill>
                <a:latin typeface="Times New Roman" panose="02020603050405020304" pitchFamily="18" charset="0"/>
                <a:cs typeface="Times New Roman" panose="02020603050405020304" pitchFamily="18" charset="0"/>
              </a:rPr>
              <a:t>Dataset divided into </a:t>
            </a:r>
            <a:r>
              <a:rPr lang="en-UM" sz="1800" dirty="0">
                <a:solidFill>
                  <a:schemeClr val="tx1"/>
                </a:solidFill>
                <a:latin typeface="Times New Roman" panose="02020603050405020304" pitchFamily="18" charset="0"/>
                <a:cs typeface="Times New Roman" panose="02020603050405020304" pitchFamily="18" charset="0"/>
              </a:rPr>
              <a:t>80</a:t>
            </a:r>
            <a:r>
              <a:rPr lang="en-GB" sz="1800" dirty="0">
                <a:solidFill>
                  <a:schemeClr val="tx1"/>
                </a:solidFill>
                <a:latin typeface="Times New Roman" panose="02020603050405020304" pitchFamily="18" charset="0"/>
                <a:cs typeface="Times New Roman" panose="02020603050405020304" pitchFamily="18" charset="0"/>
              </a:rPr>
              <a:t>% training, </a:t>
            </a:r>
            <a:r>
              <a:rPr lang="en-UM" sz="1800" dirty="0">
                <a:solidFill>
                  <a:schemeClr val="tx1"/>
                </a:solidFill>
                <a:latin typeface="Times New Roman" panose="02020603050405020304" pitchFamily="18" charset="0"/>
                <a:cs typeface="Times New Roman" panose="02020603050405020304" pitchFamily="18" charset="0"/>
              </a:rPr>
              <a:t>10</a:t>
            </a:r>
            <a:r>
              <a:rPr lang="en-GB" sz="1800" dirty="0">
                <a:solidFill>
                  <a:schemeClr val="tx1"/>
                </a:solidFill>
                <a:latin typeface="Times New Roman" panose="02020603050405020304" pitchFamily="18" charset="0"/>
                <a:cs typeface="Times New Roman" panose="02020603050405020304" pitchFamily="18" charset="0"/>
              </a:rPr>
              <a:t>% validation, and 1</a:t>
            </a:r>
            <a:r>
              <a:rPr lang="en-UM" sz="1800" dirty="0">
                <a:solidFill>
                  <a:schemeClr val="tx1"/>
                </a:solidFill>
                <a:latin typeface="Times New Roman" panose="02020603050405020304" pitchFamily="18" charset="0"/>
                <a:cs typeface="Times New Roman" panose="02020603050405020304" pitchFamily="18" charset="0"/>
              </a:rPr>
              <a:t>0</a:t>
            </a:r>
            <a:r>
              <a:rPr lang="en-GB" sz="1800" dirty="0">
                <a:solidFill>
                  <a:schemeClr val="tx1"/>
                </a:solidFill>
                <a:latin typeface="Times New Roman" panose="02020603050405020304" pitchFamily="18" charset="0"/>
                <a:cs typeface="Times New Roman" panose="02020603050405020304" pitchFamily="18" charset="0"/>
              </a:rPr>
              <a:t>% testing sets.</a:t>
            </a:r>
            <a:endParaRPr lang="en-UM" sz="18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42CF24-A4B8-061C-DA8E-F09C8B4FE091}"/>
              </a:ext>
            </a:extLst>
          </p:cNvPr>
          <p:cNvSpPr>
            <a:spLocks noGrp="1"/>
          </p:cNvSpPr>
          <p:nvPr>
            <p:ph type="sldNum" sz="quarter" idx="16"/>
          </p:nvPr>
        </p:nvSpPr>
        <p:spPr/>
        <p:txBody>
          <a:bodyPr/>
          <a:lstStyle/>
          <a:p>
            <a:pPr>
              <a:defRPr/>
            </a:pPr>
            <a:fld id="{4CD333A3-7515-47B8-9EDC-EE0892D9C861}" type="slidenum">
              <a:rPr lang="en-US" smtClean="0"/>
              <a:pPr>
                <a:defRPr/>
              </a:pPr>
              <a:t>10</a:t>
            </a:fld>
            <a:endParaRPr lang="en-US" dirty="0"/>
          </a:p>
        </p:txBody>
      </p:sp>
      <p:sp>
        <p:nvSpPr>
          <p:cNvPr id="11" name="TextBox 10">
            <a:extLst>
              <a:ext uri="{FF2B5EF4-FFF2-40B4-BE49-F238E27FC236}">
                <a16:creationId xmlns:a16="http://schemas.microsoft.com/office/drawing/2014/main" id="{F3332107-2347-EC99-7BE6-561BBBA58802}"/>
              </a:ext>
            </a:extLst>
          </p:cNvPr>
          <p:cNvSpPr txBox="1"/>
          <p:nvPr/>
        </p:nvSpPr>
        <p:spPr>
          <a:xfrm>
            <a:off x="6017053" y="3374379"/>
            <a:ext cx="6126372" cy="276999"/>
          </a:xfrm>
          <a:prstGeom prst="rect">
            <a:avLst/>
          </a:prstGeom>
          <a:noFill/>
        </p:spPr>
        <p:txBody>
          <a:bodyPr wrap="square" rtlCol="0">
            <a:spAutoFit/>
          </a:bodyPr>
          <a:lstStyle/>
          <a:p>
            <a:pPr algn="ctr"/>
            <a:r>
              <a:rPr lang="en-UM" sz="1200" dirty="0">
                <a:latin typeface="Times New Roman" panose="02020603050405020304" pitchFamily="18" charset="0"/>
                <a:cs typeface="Times New Roman" panose="02020603050405020304" pitchFamily="18" charset="0"/>
              </a:rPr>
              <a:t>Fig. 3. </a:t>
            </a:r>
            <a:r>
              <a:rPr lang="en-US" sz="1200" dirty="0">
                <a:latin typeface="Times New Roman" panose="02020603050405020304" pitchFamily="18" charset="0"/>
                <a:cs typeface="Times New Roman" panose="02020603050405020304" pitchFamily="18" charset="0"/>
              </a:rPr>
              <a:t>Training Class Counts Before and After Oversampling</a:t>
            </a:r>
          </a:p>
        </p:txBody>
      </p:sp>
      <p:pic>
        <p:nvPicPr>
          <p:cNvPr id="7" name="Picture 6">
            <a:extLst>
              <a:ext uri="{FF2B5EF4-FFF2-40B4-BE49-F238E27FC236}">
                <a16:creationId xmlns:a16="http://schemas.microsoft.com/office/drawing/2014/main" id="{ABC2D883-4092-B177-90E5-EAA7C0A7D421}"/>
              </a:ext>
            </a:extLst>
          </p:cNvPr>
          <p:cNvPicPr>
            <a:picLocks noChangeAspect="1"/>
          </p:cNvPicPr>
          <p:nvPr/>
        </p:nvPicPr>
        <p:blipFill>
          <a:blip r:embed="rId2"/>
          <a:srcRect b="4787"/>
          <a:stretch>
            <a:fillRect/>
          </a:stretch>
        </p:blipFill>
        <p:spPr>
          <a:xfrm>
            <a:off x="5893190" y="1171095"/>
            <a:ext cx="6014839" cy="2257906"/>
          </a:xfrm>
          <a:prstGeom prst="rect">
            <a:avLst/>
          </a:prstGeom>
        </p:spPr>
      </p:pic>
      <p:graphicFrame>
        <p:nvGraphicFramePr>
          <p:cNvPr id="12" name="Table 11">
            <a:extLst>
              <a:ext uri="{FF2B5EF4-FFF2-40B4-BE49-F238E27FC236}">
                <a16:creationId xmlns:a16="http://schemas.microsoft.com/office/drawing/2014/main" id="{ADF9F22B-D607-0ADC-33F7-A9416175DC5A}"/>
              </a:ext>
            </a:extLst>
          </p:cNvPr>
          <p:cNvGraphicFramePr>
            <a:graphicFrameLocks noGrp="1"/>
          </p:cNvGraphicFramePr>
          <p:nvPr>
            <p:extLst>
              <p:ext uri="{D42A27DB-BD31-4B8C-83A1-F6EECF244321}">
                <p14:modId xmlns:p14="http://schemas.microsoft.com/office/powerpoint/2010/main" val="4124989073"/>
              </p:ext>
            </p:extLst>
          </p:nvPr>
        </p:nvGraphicFramePr>
        <p:xfrm>
          <a:off x="6623117" y="3927730"/>
          <a:ext cx="5257800" cy="2320670"/>
        </p:xfrm>
        <a:graphic>
          <a:graphicData uri="http://schemas.openxmlformats.org/drawingml/2006/table">
            <a:tbl>
              <a:tblPr firstRow="1">
                <a:tableStyleId>{5940675A-B579-460E-94D1-54222C63F5DA}</a:tableStyleId>
              </a:tblPr>
              <a:tblGrid>
                <a:gridCol w="2001035">
                  <a:extLst>
                    <a:ext uri="{9D8B030D-6E8A-4147-A177-3AD203B41FA5}">
                      <a16:colId xmlns:a16="http://schemas.microsoft.com/office/drawing/2014/main" val="123876568"/>
                    </a:ext>
                  </a:extLst>
                </a:gridCol>
                <a:gridCol w="1504165">
                  <a:extLst>
                    <a:ext uri="{9D8B030D-6E8A-4147-A177-3AD203B41FA5}">
                      <a16:colId xmlns:a16="http://schemas.microsoft.com/office/drawing/2014/main" val="1071774145"/>
                    </a:ext>
                  </a:extLst>
                </a:gridCol>
                <a:gridCol w="1752600">
                  <a:extLst>
                    <a:ext uri="{9D8B030D-6E8A-4147-A177-3AD203B41FA5}">
                      <a16:colId xmlns:a16="http://schemas.microsoft.com/office/drawing/2014/main" val="389623889"/>
                    </a:ext>
                  </a:extLst>
                </a:gridCol>
              </a:tblGrid>
              <a:tr h="267514">
                <a:tc>
                  <a:txBody>
                    <a:bodyPr/>
                    <a:lstStyle/>
                    <a:p>
                      <a:pPr algn="l">
                        <a:buNone/>
                      </a:pPr>
                      <a:r>
                        <a:rPr lang="en-US" sz="1200" b="1" dirty="0">
                          <a:effectLst/>
                        </a:rPr>
                        <a:t>Class</a:t>
                      </a:r>
                    </a:p>
                  </a:txBody>
                  <a:tcPr marL="41156" marR="41156" marT="41156" marB="41156" anchor="ctr"/>
                </a:tc>
                <a:tc>
                  <a:txBody>
                    <a:bodyPr/>
                    <a:lstStyle/>
                    <a:p>
                      <a:pPr algn="l">
                        <a:buNone/>
                      </a:pPr>
                      <a:r>
                        <a:rPr lang="en-US" sz="1200" b="1" dirty="0">
                          <a:effectLst/>
                        </a:rPr>
                        <a:t>Count before oversampling</a:t>
                      </a:r>
                    </a:p>
                  </a:txBody>
                  <a:tcPr marL="41156" marR="41156" marT="41156" marB="41156" anchor="ctr"/>
                </a:tc>
                <a:tc>
                  <a:txBody>
                    <a:bodyPr/>
                    <a:lstStyle/>
                    <a:p>
                      <a:pPr algn="l">
                        <a:buNone/>
                      </a:pPr>
                      <a:r>
                        <a:rPr lang="en-US" sz="1200" b="1" dirty="0">
                          <a:effectLst/>
                        </a:rPr>
                        <a:t>Count after oversampling</a:t>
                      </a:r>
                    </a:p>
                  </a:txBody>
                  <a:tcPr marL="41156" marR="41156" marT="41156" marB="41156" anchor="ctr"/>
                </a:tc>
                <a:extLst>
                  <a:ext uri="{0D108BD9-81ED-4DB2-BD59-A6C34878D82A}">
                    <a16:rowId xmlns:a16="http://schemas.microsoft.com/office/drawing/2014/main" val="1381970407"/>
                  </a:ext>
                </a:extLst>
              </a:tr>
              <a:tr h="267514">
                <a:tc>
                  <a:txBody>
                    <a:bodyPr/>
                    <a:lstStyle/>
                    <a:p>
                      <a:pPr algn="l">
                        <a:buNone/>
                      </a:pPr>
                      <a:r>
                        <a:rPr lang="en-US" sz="1200">
                          <a:effectLst/>
                        </a:rPr>
                        <a:t>Melanocytic nevi</a:t>
                      </a:r>
                    </a:p>
                  </a:txBody>
                  <a:tcPr marL="41156" marR="41156" marT="41156" marB="41156" anchor="ctr"/>
                </a:tc>
                <a:tc>
                  <a:txBody>
                    <a:bodyPr/>
                    <a:lstStyle/>
                    <a:p>
                      <a:pPr algn="l">
                        <a:buNone/>
                      </a:pPr>
                      <a:r>
                        <a:rPr lang="en-US" sz="1200" dirty="0">
                          <a:effectLst/>
                        </a:rPr>
                        <a:t>4,939 </a:t>
                      </a:r>
                    </a:p>
                  </a:txBody>
                  <a:tcPr marL="41156" marR="41156" marT="41156" marB="41156" anchor="ctr"/>
                </a:tc>
                <a:tc>
                  <a:txBody>
                    <a:bodyPr/>
                    <a:lstStyle/>
                    <a:p>
                      <a:pPr algn="l">
                        <a:buNone/>
                      </a:pPr>
                      <a:r>
                        <a:rPr lang="en-US" sz="1200" dirty="0">
                          <a:effectLst/>
                        </a:rPr>
                        <a:t>4,939 </a:t>
                      </a:r>
                    </a:p>
                  </a:txBody>
                  <a:tcPr marL="41156" marR="41156" marT="41156" marB="41156" anchor="ctr"/>
                </a:tc>
                <a:extLst>
                  <a:ext uri="{0D108BD9-81ED-4DB2-BD59-A6C34878D82A}">
                    <a16:rowId xmlns:a16="http://schemas.microsoft.com/office/drawing/2014/main" val="277690683"/>
                  </a:ext>
                </a:extLst>
              </a:tr>
              <a:tr h="267514">
                <a:tc>
                  <a:txBody>
                    <a:bodyPr/>
                    <a:lstStyle/>
                    <a:p>
                      <a:pPr algn="l">
                        <a:buNone/>
                      </a:pPr>
                      <a:r>
                        <a:rPr lang="en-US" sz="1200">
                          <a:effectLst/>
                        </a:rPr>
                        <a:t>Melanoma</a:t>
                      </a:r>
                    </a:p>
                  </a:txBody>
                  <a:tcPr marL="41156" marR="41156" marT="41156" marB="41156" anchor="ctr"/>
                </a:tc>
                <a:tc>
                  <a:txBody>
                    <a:bodyPr/>
                    <a:lstStyle/>
                    <a:p>
                      <a:pPr algn="l">
                        <a:buNone/>
                      </a:pPr>
                      <a:r>
                        <a:rPr lang="en-US" sz="1200" dirty="0">
                          <a:effectLst/>
                        </a:rPr>
                        <a:t>1,021 </a:t>
                      </a:r>
                    </a:p>
                  </a:txBody>
                  <a:tcPr marL="41156" marR="41156" marT="41156" marB="41156" anchor="ctr"/>
                </a:tc>
                <a:tc>
                  <a:txBody>
                    <a:bodyPr/>
                    <a:lstStyle/>
                    <a:p>
                      <a:pPr algn="l">
                        <a:buNone/>
                      </a:pPr>
                      <a:r>
                        <a:rPr lang="en-US" sz="1200" dirty="0">
                          <a:effectLst/>
                        </a:rPr>
                        <a:t>4,939 </a:t>
                      </a:r>
                    </a:p>
                  </a:txBody>
                  <a:tcPr marL="41156" marR="41156" marT="41156" marB="41156" anchor="ctr"/>
                </a:tc>
                <a:extLst>
                  <a:ext uri="{0D108BD9-81ED-4DB2-BD59-A6C34878D82A}">
                    <a16:rowId xmlns:a16="http://schemas.microsoft.com/office/drawing/2014/main" val="2196797622"/>
                  </a:ext>
                </a:extLst>
              </a:tr>
              <a:tr h="267514">
                <a:tc>
                  <a:txBody>
                    <a:bodyPr/>
                    <a:lstStyle/>
                    <a:p>
                      <a:pPr algn="l">
                        <a:buNone/>
                      </a:pPr>
                      <a:r>
                        <a:rPr lang="en-US" sz="1200">
                          <a:effectLst/>
                        </a:rPr>
                        <a:t>Benign keratosis-like lesions</a:t>
                      </a:r>
                    </a:p>
                  </a:txBody>
                  <a:tcPr marL="41156" marR="41156" marT="41156" marB="41156" anchor="ctr"/>
                </a:tc>
                <a:tc>
                  <a:txBody>
                    <a:bodyPr/>
                    <a:lstStyle/>
                    <a:p>
                      <a:pPr algn="l">
                        <a:buNone/>
                      </a:pPr>
                      <a:r>
                        <a:rPr lang="en-US" sz="1200" dirty="0">
                          <a:effectLst/>
                        </a:rPr>
                        <a:t>923 </a:t>
                      </a:r>
                    </a:p>
                  </a:txBody>
                  <a:tcPr marL="41156" marR="41156" marT="41156" marB="41156" anchor="ctr"/>
                </a:tc>
                <a:tc>
                  <a:txBody>
                    <a:bodyPr/>
                    <a:lstStyle/>
                    <a:p>
                      <a:pPr algn="l">
                        <a:buNone/>
                      </a:pPr>
                      <a:r>
                        <a:rPr lang="en-US" sz="1200" dirty="0">
                          <a:effectLst/>
                        </a:rPr>
                        <a:t>4,939 </a:t>
                      </a:r>
                    </a:p>
                  </a:txBody>
                  <a:tcPr marL="41156" marR="41156" marT="41156" marB="41156" anchor="ctr"/>
                </a:tc>
                <a:extLst>
                  <a:ext uri="{0D108BD9-81ED-4DB2-BD59-A6C34878D82A}">
                    <a16:rowId xmlns:a16="http://schemas.microsoft.com/office/drawing/2014/main" val="737528798"/>
                  </a:ext>
                </a:extLst>
              </a:tr>
              <a:tr h="267514">
                <a:tc>
                  <a:txBody>
                    <a:bodyPr/>
                    <a:lstStyle/>
                    <a:p>
                      <a:pPr algn="l">
                        <a:buNone/>
                      </a:pPr>
                      <a:r>
                        <a:rPr lang="en-US" sz="1200">
                          <a:effectLst/>
                        </a:rPr>
                        <a:t>Basal cell carcinoma</a:t>
                      </a:r>
                    </a:p>
                  </a:txBody>
                  <a:tcPr marL="41156" marR="41156" marT="41156" marB="41156" anchor="ctr"/>
                </a:tc>
                <a:tc>
                  <a:txBody>
                    <a:bodyPr/>
                    <a:lstStyle/>
                    <a:p>
                      <a:pPr algn="l">
                        <a:buNone/>
                      </a:pPr>
                      <a:r>
                        <a:rPr lang="en-US" sz="1200" dirty="0">
                          <a:effectLst/>
                        </a:rPr>
                        <a:t>444 </a:t>
                      </a:r>
                    </a:p>
                  </a:txBody>
                  <a:tcPr marL="41156" marR="41156" marT="41156" marB="41156" anchor="ctr"/>
                </a:tc>
                <a:tc>
                  <a:txBody>
                    <a:bodyPr/>
                    <a:lstStyle/>
                    <a:p>
                      <a:pPr algn="l">
                        <a:buNone/>
                      </a:pPr>
                      <a:r>
                        <a:rPr lang="en-US" sz="1200" dirty="0">
                          <a:effectLst/>
                        </a:rPr>
                        <a:t>4,939 </a:t>
                      </a:r>
                    </a:p>
                  </a:txBody>
                  <a:tcPr marL="41156" marR="41156" marT="41156" marB="41156" anchor="ctr"/>
                </a:tc>
                <a:extLst>
                  <a:ext uri="{0D108BD9-81ED-4DB2-BD59-A6C34878D82A}">
                    <a16:rowId xmlns:a16="http://schemas.microsoft.com/office/drawing/2014/main" val="1705700299"/>
                  </a:ext>
                </a:extLst>
              </a:tr>
              <a:tr h="267514">
                <a:tc>
                  <a:txBody>
                    <a:bodyPr/>
                    <a:lstStyle/>
                    <a:p>
                      <a:pPr algn="l">
                        <a:buNone/>
                      </a:pPr>
                      <a:r>
                        <a:rPr lang="en-US" sz="1200">
                          <a:effectLst/>
                        </a:rPr>
                        <a:t>Actinic keratoses</a:t>
                      </a:r>
                    </a:p>
                  </a:txBody>
                  <a:tcPr marL="41156" marR="41156" marT="41156" marB="41156" anchor="ctr"/>
                </a:tc>
                <a:tc>
                  <a:txBody>
                    <a:bodyPr/>
                    <a:lstStyle/>
                    <a:p>
                      <a:pPr algn="l">
                        <a:buNone/>
                      </a:pPr>
                      <a:r>
                        <a:rPr lang="en-US" sz="1200" dirty="0">
                          <a:effectLst/>
                        </a:rPr>
                        <a:t>267 </a:t>
                      </a:r>
                    </a:p>
                  </a:txBody>
                  <a:tcPr marL="41156" marR="41156" marT="41156" marB="41156" anchor="ctr"/>
                </a:tc>
                <a:tc>
                  <a:txBody>
                    <a:bodyPr/>
                    <a:lstStyle/>
                    <a:p>
                      <a:pPr algn="l">
                        <a:buNone/>
                      </a:pPr>
                      <a:r>
                        <a:rPr lang="en-US" sz="1200" dirty="0">
                          <a:effectLst/>
                        </a:rPr>
                        <a:t>4,939 </a:t>
                      </a:r>
                    </a:p>
                  </a:txBody>
                  <a:tcPr marL="41156" marR="41156" marT="41156" marB="41156" anchor="ctr"/>
                </a:tc>
                <a:extLst>
                  <a:ext uri="{0D108BD9-81ED-4DB2-BD59-A6C34878D82A}">
                    <a16:rowId xmlns:a16="http://schemas.microsoft.com/office/drawing/2014/main" val="3657110688"/>
                  </a:ext>
                </a:extLst>
              </a:tr>
              <a:tr h="267514">
                <a:tc>
                  <a:txBody>
                    <a:bodyPr/>
                    <a:lstStyle/>
                    <a:p>
                      <a:pPr algn="l">
                        <a:buNone/>
                      </a:pPr>
                      <a:r>
                        <a:rPr lang="en-US" sz="1200">
                          <a:effectLst/>
                        </a:rPr>
                        <a:t>Vascular lesions</a:t>
                      </a:r>
                    </a:p>
                  </a:txBody>
                  <a:tcPr marL="41156" marR="41156" marT="41156" marB="41156" anchor="ctr"/>
                </a:tc>
                <a:tc>
                  <a:txBody>
                    <a:bodyPr/>
                    <a:lstStyle/>
                    <a:p>
                      <a:pPr algn="l">
                        <a:buNone/>
                      </a:pPr>
                      <a:r>
                        <a:rPr lang="en-US" sz="1200" dirty="0">
                          <a:effectLst/>
                        </a:rPr>
                        <a:t>116 </a:t>
                      </a:r>
                    </a:p>
                  </a:txBody>
                  <a:tcPr marL="41156" marR="41156" marT="41156" marB="41156" anchor="ctr"/>
                </a:tc>
                <a:tc>
                  <a:txBody>
                    <a:bodyPr/>
                    <a:lstStyle/>
                    <a:p>
                      <a:pPr algn="l">
                        <a:buNone/>
                      </a:pPr>
                      <a:r>
                        <a:rPr lang="en-US" sz="1200" dirty="0">
                          <a:effectLst/>
                        </a:rPr>
                        <a:t>4,939 </a:t>
                      </a:r>
                    </a:p>
                  </a:txBody>
                  <a:tcPr marL="41156" marR="41156" marT="41156" marB="41156" anchor="ctr"/>
                </a:tc>
                <a:extLst>
                  <a:ext uri="{0D108BD9-81ED-4DB2-BD59-A6C34878D82A}">
                    <a16:rowId xmlns:a16="http://schemas.microsoft.com/office/drawing/2014/main" val="659575554"/>
                  </a:ext>
                </a:extLst>
              </a:tr>
              <a:tr h="267514">
                <a:tc>
                  <a:txBody>
                    <a:bodyPr/>
                    <a:lstStyle/>
                    <a:p>
                      <a:pPr algn="l">
                        <a:buNone/>
                      </a:pPr>
                      <a:r>
                        <a:rPr lang="en-US" sz="1200">
                          <a:effectLst/>
                        </a:rPr>
                        <a:t>Dermatofibroma</a:t>
                      </a:r>
                    </a:p>
                  </a:txBody>
                  <a:tcPr marL="41156" marR="41156" marT="41156" marB="41156" anchor="ctr"/>
                </a:tc>
                <a:tc>
                  <a:txBody>
                    <a:bodyPr/>
                    <a:lstStyle/>
                    <a:p>
                      <a:pPr algn="l">
                        <a:buNone/>
                      </a:pPr>
                      <a:r>
                        <a:rPr lang="en-US" sz="1200" dirty="0">
                          <a:effectLst/>
                        </a:rPr>
                        <a:t>99 </a:t>
                      </a:r>
                    </a:p>
                  </a:txBody>
                  <a:tcPr marL="41156" marR="41156" marT="41156" marB="41156" anchor="ctr"/>
                </a:tc>
                <a:tc>
                  <a:txBody>
                    <a:bodyPr/>
                    <a:lstStyle/>
                    <a:p>
                      <a:pPr algn="l">
                        <a:buNone/>
                      </a:pPr>
                      <a:r>
                        <a:rPr lang="en-US" sz="1200" dirty="0">
                          <a:effectLst/>
                        </a:rPr>
                        <a:t>4,939 </a:t>
                      </a:r>
                    </a:p>
                  </a:txBody>
                  <a:tcPr marL="41156" marR="41156" marT="41156" marB="41156" anchor="ctr"/>
                </a:tc>
                <a:extLst>
                  <a:ext uri="{0D108BD9-81ED-4DB2-BD59-A6C34878D82A}">
                    <a16:rowId xmlns:a16="http://schemas.microsoft.com/office/drawing/2014/main" val="1800450242"/>
                  </a:ext>
                </a:extLst>
              </a:tr>
            </a:tbl>
          </a:graphicData>
        </a:graphic>
      </p:graphicFrame>
      <p:sp>
        <p:nvSpPr>
          <p:cNvPr id="13" name="TextBox 12">
            <a:extLst>
              <a:ext uri="{FF2B5EF4-FFF2-40B4-BE49-F238E27FC236}">
                <a16:creationId xmlns:a16="http://schemas.microsoft.com/office/drawing/2014/main" id="{2243F57F-0D49-85F3-FD18-B6C3B4C3C0C8}"/>
              </a:ext>
            </a:extLst>
          </p:cNvPr>
          <p:cNvSpPr txBox="1"/>
          <p:nvPr/>
        </p:nvSpPr>
        <p:spPr>
          <a:xfrm>
            <a:off x="6132136" y="3596755"/>
            <a:ext cx="6126372" cy="276999"/>
          </a:xfrm>
          <a:prstGeom prst="rect">
            <a:avLst/>
          </a:prstGeom>
          <a:noFill/>
        </p:spPr>
        <p:txBody>
          <a:bodyPr wrap="square" rtlCol="0">
            <a:spAutoFit/>
          </a:bodyPr>
          <a:lstStyle/>
          <a:p>
            <a:pPr algn="ctr"/>
            <a:r>
              <a:rPr lang="en-UM" sz="1200" dirty="0">
                <a:latin typeface="Times New Roman" panose="02020603050405020304" pitchFamily="18" charset="0"/>
                <a:cs typeface="Times New Roman" panose="02020603050405020304" pitchFamily="18" charset="0"/>
              </a:rPr>
              <a:t>Table I: </a:t>
            </a:r>
            <a:r>
              <a:rPr lang="en-GB" sz="1200" dirty="0">
                <a:latin typeface="Times New Roman" panose="02020603050405020304" pitchFamily="18" charset="0"/>
                <a:cs typeface="Times New Roman" panose="02020603050405020304" pitchFamily="18" charset="0"/>
              </a:rPr>
              <a:t>Training Set Class Counts Before and After Oversampling</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5577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6C291-7E5B-11CB-DE00-567FD433C1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B2D24-09EF-2940-A6FC-2BA105A64DAA}"/>
              </a:ext>
            </a:extLst>
          </p:cNvPr>
          <p:cNvSpPr>
            <a:spLocks noGrp="1"/>
          </p:cNvSpPr>
          <p:nvPr>
            <p:ph type="title"/>
          </p:nvPr>
        </p:nvSpPr>
        <p:spPr>
          <a:xfrm>
            <a:off x="1981200" y="274638"/>
            <a:ext cx="8229600" cy="868362"/>
          </a:xfrm>
        </p:spPr>
        <p:txBody>
          <a:bodyPr/>
          <a:lstStyle/>
          <a:p>
            <a:r>
              <a:rPr lang="en-UM" dirty="0">
                <a:solidFill>
                  <a:srgbClr val="7030A0"/>
                </a:solidFill>
                <a:latin typeface="Times New Roman" pitchFamily="18" charset="0"/>
                <a:cs typeface="Times New Roman" pitchFamily="18" charset="0"/>
              </a:rPr>
              <a:t>Proposed Model</a:t>
            </a:r>
            <a:endParaRPr lang="en-US" dirty="0">
              <a:solidFill>
                <a:srgbClr val="7030A0"/>
              </a:solidFill>
            </a:endParaRPr>
          </a:p>
        </p:txBody>
      </p:sp>
      <p:sp>
        <p:nvSpPr>
          <p:cNvPr id="3" name="Content Placeholder 2">
            <a:extLst>
              <a:ext uri="{FF2B5EF4-FFF2-40B4-BE49-F238E27FC236}">
                <a16:creationId xmlns:a16="http://schemas.microsoft.com/office/drawing/2014/main" id="{E89A750A-7186-F4B9-6100-4FF8FD804EDC}"/>
              </a:ext>
            </a:extLst>
          </p:cNvPr>
          <p:cNvSpPr>
            <a:spLocks noGrp="1"/>
          </p:cNvSpPr>
          <p:nvPr>
            <p:ph sz="quarter" idx="13"/>
          </p:nvPr>
        </p:nvSpPr>
        <p:spPr/>
        <p:txBody>
          <a:bodyPr>
            <a:normAutofit fontScale="70000" lnSpcReduction="20000"/>
          </a:bodyPr>
          <a:lstStyle/>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Build a federated hybrid model that combines EfficientNetB3 and InceptionV3 to classify seven types of skin lesions from the HAM10000 dataset.​</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Train the model on three separate clients with non‑IID data and aggregate them using </a:t>
            </a:r>
            <a:r>
              <a:rPr lang="en-GB" dirty="0" err="1">
                <a:solidFill>
                  <a:schemeClr val="tx1"/>
                </a:solidFill>
                <a:latin typeface="Times New Roman" panose="02020603050405020304" pitchFamily="18" charset="0"/>
                <a:cs typeface="Times New Roman" panose="02020603050405020304" pitchFamily="18" charset="0"/>
              </a:rPr>
              <a:t>FedAvg</a:t>
            </a:r>
            <a:r>
              <a:rPr lang="en-GB" dirty="0">
                <a:solidFill>
                  <a:schemeClr val="tx1"/>
                </a:solidFill>
                <a:latin typeface="Times New Roman" panose="02020603050405020304" pitchFamily="18" charset="0"/>
                <a:cs typeface="Times New Roman" panose="02020603050405020304" pitchFamily="18" charset="0"/>
              </a:rPr>
              <a:t>, so hospitals can collaborate without sharing raw images.​</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Apply careful preprocessing, data augmentation, and </a:t>
            </a:r>
            <a:r>
              <a:rPr lang="en-GB" dirty="0" err="1">
                <a:solidFill>
                  <a:schemeClr val="tx1"/>
                </a:solidFill>
                <a:latin typeface="Times New Roman" panose="02020603050405020304" pitchFamily="18" charset="0"/>
                <a:cs typeface="Times New Roman" panose="02020603050405020304" pitchFamily="18" charset="0"/>
              </a:rPr>
              <a:t>RandomOverSampler</a:t>
            </a:r>
            <a:r>
              <a:rPr lang="en-GB" dirty="0">
                <a:solidFill>
                  <a:schemeClr val="tx1"/>
                </a:solidFill>
                <a:latin typeface="Times New Roman" panose="02020603050405020304" pitchFamily="18" charset="0"/>
                <a:cs typeface="Times New Roman" panose="02020603050405020304" pitchFamily="18" charset="0"/>
              </a:rPr>
              <a:t> to handle class imbalance and improve performance on rare lesions.​</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Compare the proposed model with strong baseline networks such as VGG, </a:t>
            </a:r>
            <a:r>
              <a:rPr lang="en-GB" dirty="0" err="1">
                <a:solidFill>
                  <a:schemeClr val="tx1"/>
                </a:solidFill>
                <a:latin typeface="Times New Roman" panose="02020603050405020304" pitchFamily="18" charset="0"/>
                <a:cs typeface="Times New Roman" panose="02020603050405020304" pitchFamily="18" charset="0"/>
              </a:rPr>
              <a:t>ResNet</a:t>
            </a:r>
            <a:r>
              <a:rPr lang="en-GB" dirty="0">
                <a:solidFill>
                  <a:schemeClr val="tx1"/>
                </a:solidFill>
                <a:latin typeface="Times New Roman" panose="02020603050405020304" pitchFamily="18" charset="0"/>
                <a:cs typeface="Times New Roman" panose="02020603050405020304" pitchFamily="18" charset="0"/>
              </a:rPr>
              <a:t>, </a:t>
            </a:r>
            <a:r>
              <a:rPr lang="en-GB" dirty="0" err="1">
                <a:solidFill>
                  <a:schemeClr val="tx1"/>
                </a:solidFill>
                <a:latin typeface="Times New Roman" panose="02020603050405020304" pitchFamily="18" charset="0"/>
                <a:cs typeface="Times New Roman" panose="02020603050405020304" pitchFamily="18" charset="0"/>
              </a:rPr>
              <a:t>DenseNet</a:t>
            </a:r>
            <a:r>
              <a:rPr lang="en-GB" dirty="0">
                <a:solidFill>
                  <a:schemeClr val="tx1"/>
                </a:solidFill>
                <a:latin typeface="Times New Roman" panose="02020603050405020304" pitchFamily="18" charset="0"/>
                <a:cs typeface="Times New Roman" panose="02020603050405020304" pitchFamily="18" charset="0"/>
              </a:rPr>
              <a:t>, </a:t>
            </a:r>
            <a:r>
              <a:rPr lang="en-GB" dirty="0" err="1">
                <a:solidFill>
                  <a:schemeClr val="tx1"/>
                </a:solidFill>
                <a:latin typeface="Times New Roman" panose="02020603050405020304" pitchFamily="18" charset="0"/>
                <a:cs typeface="Times New Roman" panose="02020603050405020304" pitchFamily="18" charset="0"/>
              </a:rPr>
              <a:t>ViT</a:t>
            </a:r>
            <a:r>
              <a:rPr lang="en-GB" dirty="0">
                <a:solidFill>
                  <a:schemeClr val="tx1"/>
                </a:solidFill>
                <a:latin typeface="Times New Roman" panose="02020603050405020304" pitchFamily="18" charset="0"/>
                <a:cs typeface="Times New Roman" panose="02020603050405020304" pitchFamily="18" charset="0"/>
              </a:rPr>
              <a:t>, GCN, and GAT under the same evaluation setup.​</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Generate Grad‑CAM and saliency visualizations to highlight important lesion regions and support clinician‑in‑the‑loop decision making.​</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Package the best global model into an offline demo application for practical skin‑lesion risk prediction in real clinical environments.</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90119F91-839C-EBB7-E9E4-84A3FE69A7EC}"/>
              </a:ext>
            </a:extLst>
          </p:cNvPr>
          <p:cNvSpPr>
            <a:spLocks noGrp="1"/>
          </p:cNvSpPr>
          <p:nvPr>
            <p:ph type="sldNum" sz="quarter" idx="16"/>
          </p:nvPr>
        </p:nvSpPr>
        <p:spPr/>
        <p:txBody>
          <a:bodyPr/>
          <a:lstStyle/>
          <a:p>
            <a:pPr>
              <a:defRPr/>
            </a:pPr>
            <a:fld id="{4CD333A3-7515-47B8-9EDC-EE0892D9C861}" type="slidenum">
              <a:rPr lang="en-US" smtClean="0"/>
              <a:pPr>
                <a:defRPr/>
              </a:pPr>
              <a:t>11</a:t>
            </a:fld>
            <a:endParaRPr lang="en-US" dirty="0"/>
          </a:p>
        </p:txBody>
      </p:sp>
    </p:spTree>
    <p:extLst>
      <p:ext uri="{BB962C8B-B14F-4D97-AF65-F5344CB8AC3E}">
        <p14:creationId xmlns:p14="http://schemas.microsoft.com/office/powerpoint/2010/main" val="4152850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29102-7ACC-6FEA-1DE7-E8D829BC88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A7EE1B-FE93-352B-DA31-6AA10E6CC588}"/>
              </a:ext>
            </a:extLst>
          </p:cNvPr>
          <p:cNvSpPr>
            <a:spLocks noGrp="1"/>
          </p:cNvSpPr>
          <p:nvPr>
            <p:ph type="sldNum" sz="quarter" idx="16"/>
          </p:nvPr>
        </p:nvSpPr>
        <p:spPr/>
        <p:txBody>
          <a:bodyPr/>
          <a:lstStyle/>
          <a:p>
            <a:pPr>
              <a:defRPr/>
            </a:pPr>
            <a:fld id="{4CD333A3-7515-47B8-9EDC-EE0892D9C861}" type="slidenum">
              <a:rPr lang="en-US" smtClean="0"/>
              <a:pPr>
                <a:defRPr/>
              </a:pPr>
              <a:t>12</a:t>
            </a:fld>
            <a:endParaRPr lang="en-US" dirty="0"/>
          </a:p>
        </p:txBody>
      </p:sp>
      <p:pic>
        <p:nvPicPr>
          <p:cNvPr id="9" name="Picture 8">
            <a:extLst>
              <a:ext uri="{FF2B5EF4-FFF2-40B4-BE49-F238E27FC236}">
                <a16:creationId xmlns:a16="http://schemas.microsoft.com/office/drawing/2014/main" id="{5F95443A-9ADA-399E-DAE0-C0F1B076BE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 y="1143000"/>
            <a:ext cx="9144000" cy="4854653"/>
          </a:xfrm>
          <a:prstGeom prst="rect">
            <a:avLst/>
          </a:prstGeom>
        </p:spPr>
      </p:pic>
      <p:sp>
        <p:nvSpPr>
          <p:cNvPr id="2" name="Title 1">
            <a:extLst>
              <a:ext uri="{FF2B5EF4-FFF2-40B4-BE49-F238E27FC236}">
                <a16:creationId xmlns:a16="http://schemas.microsoft.com/office/drawing/2014/main" id="{55AF939E-637E-9D18-D6EE-43752F5613D3}"/>
              </a:ext>
            </a:extLst>
          </p:cNvPr>
          <p:cNvSpPr>
            <a:spLocks noGrp="1"/>
          </p:cNvSpPr>
          <p:nvPr>
            <p:ph type="title"/>
          </p:nvPr>
        </p:nvSpPr>
        <p:spPr>
          <a:xfrm>
            <a:off x="1981200" y="274638"/>
            <a:ext cx="8229600" cy="868362"/>
          </a:xfrm>
        </p:spPr>
        <p:txBody>
          <a:bodyPr/>
          <a:lstStyle/>
          <a:p>
            <a:r>
              <a:rPr lang="en-UM" dirty="0">
                <a:solidFill>
                  <a:srgbClr val="7030A0"/>
                </a:solidFill>
                <a:latin typeface="Times New Roman" pitchFamily="18" charset="0"/>
                <a:cs typeface="Times New Roman" pitchFamily="18" charset="0"/>
              </a:rPr>
              <a:t>Proposed Model Architecture</a:t>
            </a:r>
            <a:endParaRPr lang="en-US" dirty="0">
              <a:solidFill>
                <a:srgbClr val="7030A0"/>
              </a:solidFill>
            </a:endParaRPr>
          </a:p>
        </p:txBody>
      </p:sp>
      <p:sp>
        <p:nvSpPr>
          <p:cNvPr id="10" name="TextBox 9">
            <a:extLst>
              <a:ext uri="{FF2B5EF4-FFF2-40B4-BE49-F238E27FC236}">
                <a16:creationId xmlns:a16="http://schemas.microsoft.com/office/drawing/2014/main" id="{AFE87FA5-4D20-C4F3-0054-907C2E5786C5}"/>
              </a:ext>
            </a:extLst>
          </p:cNvPr>
          <p:cNvSpPr txBox="1"/>
          <p:nvPr/>
        </p:nvSpPr>
        <p:spPr>
          <a:xfrm>
            <a:off x="3352800" y="5985793"/>
            <a:ext cx="5924699" cy="523220"/>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a:t>
            </a:r>
            <a:r>
              <a:rPr lang="en-UM" sz="1400" dirty="0">
                <a:latin typeface="Times New Roman" panose="02020603050405020304" pitchFamily="18" charset="0"/>
                <a:cs typeface="Times New Roman" panose="02020603050405020304" pitchFamily="18" charset="0"/>
              </a:rPr>
              <a:t>4</a:t>
            </a:r>
            <a:r>
              <a:rPr lang="en-US" sz="1400" dirty="0">
                <a:latin typeface="Times New Roman" panose="02020603050405020304" pitchFamily="18" charset="0"/>
                <a:cs typeface="Times New Roman" panose="02020603050405020304" pitchFamily="18" charset="0"/>
              </a:rPr>
              <a:t>: Architecture of Proposed Hybrid EfficientNetB3–InceptionV3 Ensemble </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089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3" name="Content Placeholder 2">
            <a:extLst>
              <a:ext uri="{FF2B5EF4-FFF2-40B4-BE49-F238E27FC236}">
                <a16:creationId xmlns:a16="http://schemas.microsoft.com/office/drawing/2014/main" id="{42D8CAC6-56B3-0959-F6A7-CDBEEEDC8E0F}"/>
              </a:ext>
            </a:extLst>
          </p:cNvPr>
          <p:cNvSpPr>
            <a:spLocks noGrp="1"/>
          </p:cNvSpPr>
          <p:nvPr>
            <p:ph sz="quarter" idx="13"/>
          </p:nvPr>
        </p:nvSpPr>
        <p:spPr/>
        <p:txBody>
          <a:bodyPr>
            <a:normAutofit fontScale="62500" lnSpcReduction="20000"/>
          </a:bodyPr>
          <a:lstStyle/>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The proposed hybrid EfficientNetB3–InceptionV3 model achieves the best test accuracy of 93.62%, higher than all individual CNN, </a:t>
            </a:r>
            <a:r>
              <a:rPr lang="en-GB" dirty="0" err="1">
                <a:solidFill>
                  <a:schemeClr val="tx1"/>
                </a:solidFill>
                <a:latin typeface="Times New Roman" panose="02020603050405020304" pitchFamily="18" charset="0"/>
                <a:cs typeface="Times New Roman" panose="02020603050405020304" pitchFamily="18" charset="0"/>
              </a:rPr>
              <a:t>ViT</a:t>
            </a:r>
            <a:r>
              <a:rPr lang="en-GB" dirty="0">
                <a:solidFill>
                  <a:schemeClr val="tx1"/>
                </a:solidFill>
                <a:latin typeface="Times New Roman" panose="02020603050405020304" pitchFamily="18" charset="0"/>
                <a:cs typeface="Times New Roman" panose="02020603050405020304" pitchFamily="18" charset="0"/>
              </a:rPr>
              <a:t>, and graph-based baselines on the seven-class HAM10000 dataset.​</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Multi-class ROC curves show AUC between 0.97 and 1.00 for all lesion types, with perfect separation for Basal cell carcinoma and Dermatofibroma, confirming strong discriminative power.​</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The normalized confusion matrix indicates that most samples are correctly classified, with remaining errors mainly between visually similar Melanoma and Melanocytic nevi.​</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In the federated setting, the global model reaches 93.0% test accuracy, very close to centralized training, while keeping all patient images on their own clients.​</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Ablation results show that oversampling and augmentation significantly boost performance, but the ensemble still outperforms baselines even when these components are removed.​</a:t>
            </a:r>
          </a:p>
          <a:p>
            <a:pPr>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Grad‑CAM, saliency, and </a:t>
            </a:r>
            <a:r>
              <a:rPr lang="en-GB" dirty="0" err="1">
                <a:solidFill>
                  <a:schemeClr val="tx1"/>
                </a:solidFill>
                <a:latin typeface="Times New Roman" panose="02020603050405020304" pitchFamily="18" charset="0"/>
                <a:cs typeface="Times New Roman" panose="02020603050405020304" pitchFamily="18" charset="0"/>
              </a:rPr>
              <a:t>SmoothGrad</a:t>
            </a:r>
            <a:r>
              <a:rPr lang="en-GB" dirty="0">
                <a:solidFill>
                  <a:schemeClr val="tx1"/>
                </a:solidFill>
                <a:latin typeface="Times New Roman" panose="02020603050405020304" pitchFamily="18" charset="0"/>
                <a:cs typeface="Times New Roman" panose="02020603050405020304" pitchFamily="18" charset="0"/>
              </a:rPr>
              <a:t> visualizations highlight key lesion regions, giving clinicians an interpretable view of why the model makes each prediction.</a:t>
            </a: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p:txBody>
          <a:bodyPr/>
          <a:lstStyle/>
          <a:p>
            <a:pPr>
              <a:defRPr/>
            </a:pPr>
            <a:fld id="{4CD333A3-7515-47B8-9EDC-EE0892D9C861}" type="slidenum">
              <a:rPr lang="en-US" smtClean="0"/>
              <a:pPr>
                <a:defRPr/>
              </a:pPr>
              <a:t>13</a:t>
            </a:fld>
            <a:endParaRPr lang="en-US" dirty="0"/>
          </a:p>
        </p:txBody>
      </p:sp>
    </p:spTree>
    <p:extLst>
      <p:ext uri="{BB962C8B-B14F-4D97-AF65-F5344CB8AC3E}">
        <p14:creationId xmlns:p14="http://schemas.microsoft.com/office/powerpoint/2010/main" val="1659567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F45AD-4094-B2D1-76B4-232578E7C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3B42B-2385-B313-AE8E-4497DD17D350}"/>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5FCEE648-DCB0-5DEE-C039-78223D196170}"/>
              </a:ext>
            </a:extLst>
          </p:cNvPr>
          <p:cNvSpPr>
            <a:spLocks noGrp="1"/>
          </p:cNvSpPr>
          <p:nvPr>
            <p:ph type="sldNum" sz="quarter" idx="16"/>
          </p:nvPr>
        </p:nvSpPr>
        <p:spPr/>
        <p:txBody>
          <a:bodyPr/>
          <a:lstStyle/>
          <a:p>
            <a:pPr>
              <a:defRPr/>
            </a:pPr>
            <a:fld id="{4CD333A3-7515-47B8-9EDC-EE0892D9C861}" type="slidenum">
              <a:rPr lang="en-US" smtClean="0"/>
              <a:pPr>
                <a:defRPr/>
              </a:pPr>
              <a:t>14</a:t>
            </a:fld>
            <a:endParaRPr lang="en-US" dirty="0"/>
          </a:p>
        </p:txBody>
      </p:sp>
      <p:pic>
        <p:nvPicPr>
          <p:cNvPr id="7" name="Picture 6">
            <a:extLst>
              <a:ext uri="{FF2B5EF4-FFF2-40B4-BE49-F238E27FC236}">
                <a16:creationId xmlns:a16="http://schemas.microsoft.com/office/drawing/2014/main" id="{D7C2AA75-0EAD-7B8F-E90C-58E63A23AB2F}"/>
              </a:ext>
            </a:extLst>
          </p:cNvPr>
          <p:cNvPicPr>
            <a:picLocks noChangeAspect="1"/>
          </p:cNvPicPr>
          <p:nvPr/>
        </p:nvPicPr>
        <p:blipFill>
          <a:blip r:embed="rId2"/>
          <a:stretch>
            <a:fillRect/>
          </a:stretch>
        </p:blipFill>
        <p:spPr>
          <a:xfrm>
            <a:off x="304800" y="1600200"/>
            <a:ext cx="3797278" cy="3124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9DF11993-0E10-26E9-F361-5C866B6641AD}"/>
              </a:ext>
            </a:extLst>
          </p:cNvPr>
          <p:cNvSpPr txBox="1"/>
          <p:nvPr/>
        </p:nvSpPr>
        <p:spPr>
          <a:xfrm>
            <a:off x="871282" y="5195500"/>
            <a:ext cx="3336170"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Fig. </a:t>
            </a:r>
            <a:r>
              <a:rPr lang="en-UM" sz="1200" dirty="0">
                <a:latin typeface="Times New Roman" panose="02020603050405020304" pitchFamily="18" charset="0"/>
                <a:cs typeface="Times New Roman" panose="02020603050405020304" pitchFamily="18" charset="0"/>
              </a:rPr>
              <a:t>5</a:t>
            </a:r>
            <a:r>
              <a:rPr lang="en-US" sz="1200" dirty="0">
                <a:latin typeface="Times New Roman" panose="02020603050405020304" pitchFamily="18" charset="0"/>
                <a:cs typeface="Times New Roman" panose="02020603050405020304" pitchFamily="18" charset="0"/>
              </a:rPr>
              <a:t>. Multi Class ROC-Curve of Proposed Model</a:t>
            </a:r>
          </a:p>
        </p:txBody>
      </p:sp>
      <p:pic>
        <p:nvPicPr>
          <p:cNvPr id="9" name="Picture 8">
            <a:extLst>
              <a:ext uri="{FF2B5EF4-FFF2-40B4-BE49-F238E27FC236}">
                <a16:creationId xmlns:a16="http://schemas.microsoft.com/office/drawing/2014/main" id="{EBFB5D52-D1D7-340B-8093-507780B93B15}"/>
              </a:ext>
            </a:extLst>
          </p:cNvPr>
          <p:cNvPicPr>
            <a:picLocks noChangeAspect="1"/>
          </p:cNvPicPr>
          <p:nvPr/>
        </p:nvPicPr>
        <p:blipFill>
          <a:blip r:embed="rId3"/>
          <a:stretch>
            <a:fillRect/>
          </a:stretch>
        </p:blipFill>
        <p:spPr>
          <a:xfrm>
            <a:off x="4207452" y="1541282"/>
            <a:ext cx="3813839" cy="3595300"/>
          </a:xfrm>
          <a:prstGeom prst="rect">
            <a:avLst/>
          </a:prstGeom>
        </p:spPr>
      </p:pic>
      <p:sp>
        <p:nvSpPr>
          <p:cNvPr id="10" name="TextBox 9">
            <a:extLst>
              <a:ext uri="{FF2B5EF4-FFF2-40B4-BE49-F238E27FC236}">
                <a16:creationId xmlns:a16="http://schemas.microsoft.com/office/drawing/2014/main" id="{4FC541D9-DA48-C2F8-2F81-C9E13A066335}"/>
              </a:ext>
            </a:extLst>
          </p:cNvPr>
          <p:cNvSpPr txBox="1"/>
          <p:nvPr/>
        </p:nvSpPr>
        <p:spPr>
          <a:xfrm>
            <a:off x="5410200" y="5275628"/>
            <a:ext cx="2938625"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Fig. </a:t>
            </a:r>
            <a:r>
              <a:rPr lang="en-UM" sz="1200" dirty="0">
                <a:latin typeface="Times New Roman" panose="02020603050405020304" pitchFamily="18" charset="0"/>
                <a:cs typeface="Times New Roman" panose="02020603050405020304" pitchFamily="18" charset="0"/>
              </a:rPr>
              <a:t>6</a:t>
            </a:r>
            <a:r>
              <a:rPr lang="en-US" sz="1200" dirty="0">
                <a:latin typeface="Times New Roman" panose="02020603050405020304" pitchFamily="18" charset="0"/>
                <a:cs typeface="Times New Roman" panose="02020603050405020304" pitchFamily="18" charset="0"/>
              </a:rPr>
              <a:t>. Confusion Matrix of Proposed Model</a:t>
            </a:r>
          </a:p>
        </p:txBody>
      </p:sp>
      <p:pic>
        <p:nvPicPr>
          <p:cNvPr id="1026" name="Picture 2">
            <a:extLst>
              <a:ext uri="{FF2B5EF4-FFF2-40B4-BE49-F238E27FC236}">
                <a16:creationId xmlns:a16="http://schemas.microsoft.com/office/drawing/2014/main" id="{DB460ED4-15E0-007F-45BB-1A79DC9D657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21291" y="2133600"/>
            <a:ext cx="4098201" cy="161607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CE8DB68-9CFE-2025-4843-56E4D6CBA167}"/>
              </a:ext>
            </a:extLst>
          </p:cNvPr>
          <p:cNvSpPr txBox="1"/>
          <p:nvPr/>
        </p:nvSpPr>
        <p:spPr>
          <a:xfrm>
            <a:off x="8830518" y="4212296"/>
            <a:ext cx="2760564" cy="461665"/>
          </a:xfrm>
          <a:prstGeom prst="rect">
            <a:avLst/>
          </a:prstGeom>
          <a:noFill/>
        </p:spPr>
        <p:txBody>
          <a:bodyPr wrap="none" rtlCol="0">
            <a:spAutoFit/>
          </a:bodyPr>
          <a:lstStyle/>
          <a:p>
            <a:pPr algn="ctr"/>
            <a:r>
              <a:rPr lang="en-GB" sz="1200" dirty="0">
                <a:latin typeface="Times New Roman" panose="02020603050405020304" pitchFamily="18" charset="0"/>
                <a:cs typeface="Times New Roman" panose="02020603050405020304" pitchFamily="18" charset="0"/>
              </a:rPr>
              <a:t>Figure </a:t>
            </a:r>
            <a:r>
              <a:rPr lang="en-UM" sz="1200" dirty="0">
                <a:latin typeface="Times New Roman" panose="02020603050405020304" pitchFamily="18" charset="0"/>
                <a:cs typeface="Times New Roman" panose="02020603050405020304" pitchFamily="18" charset="0"/>
              </a:rPr>
              <a:t>7</a:t>
            </a:r>
            <a:r>
              <a:rPr lang="en-GB" sz="1200" dirty="0">
                <a:latin typeface="Times New Roman" panose="02020603050405020304" pitchFamily="18" charset="0"/>
                <a:cs typeface="Times New Roman" panose="02020603050405020304" pitchFamily="18" charset="0"/>
              </a:rPr>
              <a:t>. Training and validation loss and</a:t>
            </a:r>
            <a:endParaRPr lang="en-UM" sz="1200" dirty="0">
              <a:latin typeface="Times New Roman" panose="02020603050405020304" pitchFamily="18" charset="0"/>
              <a:cs typeface="Times New Roman" panose="02020603050405020304" pitchFamily="18" charset="0"/>
            </a:endParaRPr>
          </a:p>
          <a:p>
            <a:pPr algn="ctr"/>
            <a:r>
              <a:rPr lang="en-GB" sz="1200" dirty="0">
                <a:latin typeface="Times New Roman" panose="02020603050405020304" pitchFamily="18" charset="0"/>
                <a:cs typeface="Times New Roman" panose="02020603050405020304" pitchFamily="18" charset="0"/>
              </a:rPr>
              <a:t> accuracy curves</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166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6FF58-984F-C81F-0C7C-9E9E397E2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99C90-3CFA-793E-13DE-6596A15F904F}"/>
              </a:ext>
            </a:extLst>
          </p:cNvPr>
          <p:cNvSpPr>
            <a:spLocks noGrp="1"/>
          </p:cNvSpPr>
          <p:nvPr>
            <p:ph type="title"/>
          </p:nvPr>
        </p:nvSpPr>
        <p:spPr>
          <a:xfrm>
            <a:off x="1698320" y="253633"/>
            <a:ext cx="8795360" cy="868362"/>
          </a:xfrm>
        </p:spPr>
        <p:txBody>
          <a:bodyPr>
            <a:normAutofit fontScale="90000"/>
          </a:bodyPr>
          <a:lstStyle/>
          <a:p>
            <a:r>
              <a:rPr lang="en-US" dirty="0">
                <a:solidFill>
                  <a:srgbClr val="7030A0"/>
                </a:solidFill>
                <a:latin typeface="Times New Roman" pitchFamily="18" charset="0"/>
                <a:cs typeface="Times New Roman" pitchFamily="18" charset="0"/>
              </a:rPr>
              <a:t>Result and Analysis</a:t>
            </a:r>
            <a:r>
              <a:rPr lang="en-UM" dirty="0">
                <a:solidFill>
                  <a:srgbClr val="7030A0"/>
                </a:solidFill>
                <a:latin typeface="Times New Roman" pitchFamily="18" charset="0"/>
                <a:cs typeface="Times New Roman" pitchFamily="18" charset="0"/>
              </a:rPr>
              <a:t> of Federate Clients</a:t>
            </a:r>
            <a:endParaRPr lang="en-US" dirty="0">
              <a:solidFill>
                <a:srgbClr val="7030A0"/>
              </a:solidFill>
            </a:endParaRPr>
          </a:p>
        </p:txBody>
      </p:sp>
      <p:sp>
        <p:nvSpPr>
          <p:cNvPr id="4" name="Slide Number Placeholder 3">
            <a:extLst>
              <a:ext uri="{FF2B5EF4-FFF2-40B4-BE49-F238E27FC236}">
                <a16:creationId xmlns:a16="http://schemas.microsoft.com/office/drawing/2014/main" id="{2496377D-863D-9CA5-5266-454C924CC9DA}"/>
              </a:ext>
            </a:extLst>
          </p:cNvPr>
          <p:cNvSpPr>
            <a:spLocks noGrp="1"/>
          </p:cNvSpPr>
          <p:nvPr>
            <p:ph type="sldNum" sz="quarter" idx="16"/>
          </p:nvPr>
        </p:nvSpPr>
        <p:spPr/>
        <p:txBody>
          <a:bodyPr/>
          <a:lstStyle/>
          <a:p>
            <a:pPr>
              <a:defRPr/>
            </a:pPr>
            <a:fld id="{4CD333A3-7515-47B8-9EDC-EE0892D9C861}" type="slidenum">
              <a:rPr lang="en-US" smtClean="0"/>
              <a:pPr>
                <a:defRPr/>
              </a:pPr>
              <a:t>15</a:t>
            </a:fld>
            <a:endParaRPr lang="en-US" dirty="0"/>
          </a:p>
        </p:txBody>
      </p:sp>
      <p:sp>
        <p:nvSpPr>
          <p:cNvPr id="8" name="TextBox 7">
            <a:extLst>
              <a:ext uri="{FF2B5EF4-FFF2-40B4-BE49-F238E27FC236}">
                <a16:creationId xmlns:a16="http://schemas.microsoft.com/office/drawing/2014/main" id="{C5ECE78B-DF15-311B-C2C3-9FFDE27F373A}"/>
              </a:ext>
            </a:extLst>
          </p:cNvPr>
          <p:cNvSpPr txBox="1"/>
          <p:nvPr/>
        </p:nvSpPr>
        <p:spPr>
          <a:xfrm>
            <a:off x="7271229" y="4800600"/>
            <a:ext cx="4935518"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Fig. </a:t>
            </a:r>
            <a:r>
              <a:rPr lang="en-UM" sz="1200" dirty="0">
                <a:latin typeface="Times New Roman" panose="02020603050405020304" pitchFamily="18" charset="0"/>
                <a:cs typeface="Times New Roman" panose="02020603050405020304" pitchFamily="18" charset="0"/>
              </a:rPr>
              <a:t>8</a:t>
            </a:r>
            <a:r>
              <a:rPr lang="en-US" sz="1200" dirty="0">
                <a:latin typeface="Times New Roman" panose="02020603050405020304" pitchFamily="18" charset="0"/>
                <a:cs typeface="Times New Roman" panose="02020603050405020304" pitchFamily="18" charset="0"/>
              </a:rPr>
              <a:t>. Accuracy Comparison Bar Chart</a:t>
            </a:r>
            <a:r>
              <a:rPr lang="en-UM" sz="1200" dirty="0">
                <a:latin typeface="Times New Roman" panose="02020603050405020304" pitchFamily="18" charset="0"/>
                <a:cs typeface="Times New Roman" panose="02020603050405020304" pitchFamily="18" charset="0"/>
              </a:rPr>
              <a:t> of Federate clients and Global Model</a:t>
            </a:r>
            <a:endParaRPr lang="en-US" sz="1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C01A8FB-402F-FA32-FFFF-C5C71D40C783}"/>
              </a:ext>
            </a:extLst>
          </p:cNvPr>
          <p:cNvSpPr txBox="1"/>
          <p:nvPr/>
        </p:nvSpPr>
        <p:spPr>
          <a:xfrm>
            <a:off x="4152991" y="1767157"/>
            <a:ext cx="2628900" cy="461665"/>
          </a:xfrm>
          <a:prstGeom prst="rect">
            <a:avLst/>
          </a:prstGeom>
          <a:noFill/>
        </p:spPr>
        <p:txBody>
          <a:bodyPr wrap="square" rtlCol="0">
            <a:spAutoFit/>
          </a:bodyPr>
          <a:lstStyle/>
          <a:p>
            <a:pPr algn="ctr"/>
            <a:r>
              <a:rPr lang="en-UM" sz="1200" dirty="0">
                <a:latin typeface="Times New Roman" panose="02020603050405020304" pitchFamily="18" charset="0"/>
                <a:cs typeface="Times New Roman" panose="02020603050405020304" pitchFamily="18" charset="0"/>
              </a:rPr>
              <a:t>Table III: </a:t>
            </a:r>
            <a:r>
              <a:rPr lang="en-US" sz="1200" dirty="0">
                <a:latin typeface="Times New Roman" panose="02020603050405020304" pitchFamily="18" charset="0"/>
                <a:cs typeface="Times New Roman" panose="02020603050405020304" pitchFamily="18" charset="0"/>
              </a:rPr>
              <a:t>Federated Client-wise and </a:t>
            </a:r>
            <a:endParaRPr lang="en-UM"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Global Hybrid</a:t>
            </a:r>
            <a:r>
              <a:rPr lang="en-UM" sz="1200" dirty="0">
                <a:latin typeface="Times New Roman" panose="02020603050405020304" pitchFamily="18" charset="0"/>
                <a:cs typeface="Times New Roman" panose="02020603050405020304" pitchFamily="18" charset="0"/>
              </a:rPr>
              <a:t> Model</a:t>
            </a:r>
            <a:r>
              <a:rPr lang="en-US" sz="1200" dirty="0">
                <a:latin typeface="Times New Roman" panose="02020603050405020304" pitchFamily="18" charset="0"/>
                <a:cs typeface="Times New Roman" panose="02020603050405020304" pitchFamily="18" charset="0"/>
              </a:rPr>
              <a:t> Accuracy</a:t>
            </a:r>
          </a:p>
        </p:txBody>
      </p:sp>
      <p:pic>
        <p:nvPicPr>
          <p:cNvPr id="3" name="Picture 2">
            <a:extLst>
              <a:ext uri="{FF2B5EF4-FFF2-40B4-BE49-F238E27FC236}">
                <a16:creationId xmlns:a16="http://schemas.microsoft.com/office/drawing/2014/main" id="{65682AC2-8EFA-8380-F6A4-64323AA07FA6}"/>
              </a:ext>
            </a:extLst>
          </p:cNvPr>
          <p:cNvPicPr>
            <a:picLocks noChangeAspect="1"/>
          </p:cNvPicPr>
          <p:nvPr/>
        </p:nvPicPr>
        <p:blipFill>
          <a:blip r:embed="rId2"/>
          <a:stretch>
            <a:fillRect/>
          </a:stretch>
        </p:blipFill>
        <p:spPr>
          <a:xfrm>
            <a:off x="7684458" y="1767157"/>
            <a:ext cx="4109060" cy="27495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11" name="Table 10">
            <a:extLst>
              <a:ext uri="{FF2B5EF4-FFF2-40B4-BE49-F238E27FC236}">
                <a16:creationId xmlns:a16="http://schemas.microsoft.com/office/drawing/2014/main" id="{47B80157-A246-EE94-A6A7-F3FA71635902}"/>
              </a:ext>
            </a:extLst>
          </p:cNvPr>
          <p:cNvGraphicFramePr>
            <a:graphicFrameLocks noGrp="1"/>
          </p:cNvGraphicFramePr>
          <p:nvPr>
            <p:extLst>
              <p:ext uri="{D42A27DB-BD31-4B8C-83A1-F6EECF244321}">
                <p14:modId xmlns:p14="http://schemas.microsoft.com/office/powerpoint/2010/main" val="3744639309"/>
              </p:ext>
            </p:extLst>
          </p:nvPr>
        </p:nvGraphicFramePr>
        <p:xfrm>
          <a:off x="3745353" y="2259817"/>
          <a:ext cx="3518020" cy="2022427"/>
        </p:xfrm>
        <a:graphic>
          <a:graphicData uri="http://schemas.openxmlformats.org/drawingml/2006/table">
            <a:tbl>
              <a:tblPr firstRow="1" firstCol="1" lastRow="1" lastCol="1" bandRow="1" bandCol="1"/>
              <a:tblGrid>
                <a:gridCol w="1482905">
                  <a:extLst>
                    <a:ext uri="{9D8B030D-6E8A-4147-A177-3AD203B41FA5}">
                      <a16:colId xmlns:a16="http://schemas.microsoft.com/office/drawing/2014/main" val="3946793089"/>
                    </a:ext>
                  </a:extLst>
                </a:gridCol>
                <a:gridCol w="1092666">
                  <a:extLst>
                    <a:ext uri="{9D8B030D-6E8A-4147-A177-3AD203B41FA5}">
                      <a16:colId xmlns:a16="http://schemas.microsoft.com/office/drawing/2014/main" val="583451525"/>
                    </a:ext>
                  </a:extLst>
                </a:gridCol>
                <a:gridCol w="942449">
                  <a:extLst>
                    <a:ext uri="{9D8B030D-6E8A-4147-A177-3AD203B41FA5}">
                      <a16:colId xmlns:a16="http://schemas.microsoft.com/office/drawing/2014/main" val="68175694"/>
                    </a:ext>
                  </a:extLst>
                </a:gridCol>
              </a:tblGrid>
              <a:tr h="239079">
                <a:tc>
                  <a:txBody>
                    <a:bodyPr/>
                    <a:lstStyle/>
                    <a:p>
                      <a:pPr marL="0" marR="0" algn="just">
                        <a:lnSpc>
                          <a:spcPts val="1200"/>
                        </a:lnSpc>
                        <a:buNone/>
                      </a:pPr>
                      <a:r>
                        <a:rPr lang="en-US" sz="900" b="1" dirty="0">
                          <a:effectLst/>
                          <a:latin typeface="Times New Roman" panose="02020603050405020304" pitchFamily="18" charset="0"/>
                          <a:ea typeface="Calibri" panose="020F0502020204030204" pitchFamily="34" charset="0"/>
                          <a:cs typeface="Vrinda" panose="020B0502040204020203" pitchFamily="34" charset="0"/>
                        </a:rPr>
                        <a:t>Component</a:t>
                      </a:r>
                      <a:endParaRPr lang="en-US" sz="900" dirty="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b="1" dirty="0">
                          <a:effectLst/>
                          <a:latin typeface="Times New Roman" panose="02020603050405020304" pitchFamily="18" charset="0"/>
                          <a:ea typeface="Calibri" panose="020F0502020204030204" pitchFamily="34" charset="0"/>
                          <a:cs typeface="Vrinda" panose="020B0502040204020203" pitchFamily="34" charset="0"/>
                        </a:rPr>
                        <a:t>Train Acc (%)</a:t>
                      </a:r>
                      <a:endParaRPr lang="en-US" sz="900" dirty="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b="1" dirty="0">
                          <a:effectLst/>
                          <a:latin typeface="Times New Roman" panose="02020603050405020304" pitchFamily="18" charset="0"/>
                          <a:ea typeface="Calibri" panose="020F0502020204030204" pitchFamily="34" charset="0"/>
                          <a:cs typeface="Vrinda" panose="020B0502040204020203" pitchFamily="34" charset="0"/>
                        </a:rPr>
                        <a:t>Test Acc (%)</a:t>
                      </a:r>
                      <a:endParaRPr lang="en-US" sz="900" dirty="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8407552"/>
                  </a:ext>
                </a:extLst>
              </a:tr>
              <a:tr h="341077">
                <a:tc>
                  <a:txBody>
                    <a:bodyPr/>
                    <a:lstStyle/>
                    <a:p>
                      <a:pPr marL="0" marR="0" algn="just">
                        <a:lnSpc>
                          <a:spcPts val="1200"/>
                        </a:lnSpc>
                        <a:buNone/>
                      </a:pPr>
                      <a:r>
                        <a:rPr lang="en-US" sz="900">
                          <a:effectLst/>
                          <a:latin typeface="Times New Roman" panose="02020603050405020304" pitchFamily="18" charset="0"/>
                          <a:ea typeface="Calibri" panose="020F0502020204030204" pitchFamily="34" charset="0"/>
                          <a:cs typeface="Vrinda" panose="020B0502040204020203" pitchFamily="34" charset="0"/>
                        </a:rPr>
                        <a:t>Client 1</a:t>
                      </a:r>
                      <a:endParaRPr lang="en-US" sz="90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dirty="0">
                          <a:effectLst/>
                          <a:latin typeface="Times New Roman" panose="02020603050405020304" pitchFamily="18" charset="0"/>
                          <a:ea typeface="Calibri" panose="020F0502020204030204" pitchFamily="34" charset="0"/>
                          <a:cs typeface="Vrinda" panose="020B0502040204020203" pitchFamily="34" charset="0"/>
                        </a:rPr>
                        <a:t>92.78</a:t>
                      </a:r>
                      <a:endParaRPr lang="en-US" sz="900" dirty="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a:effectLst/>
                          <a:latin typeface="Times New Roman" panose="02020603050405020304" pitchFamily="18" charset="0"/>
                          <a:ea typeface="Calibri" panose="020F0502020204030204" pitchFamily="34" charset="0"/>
                          <a:cs typeface="Vrinda" panose="020B0502040204020203" pitchFamily="34" charset="0"/>
                        </a:rPr>
                        <a:t>90.41</a:t>
                      </a:r>
                      <a:endParaRPr lang="en-US" sz="90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3395073"/>
                  </a:ext>
                </a:extLst>
              </a:tr>
              <a:tr h="331333">
                <a:tc>
                  <a:txBody>
                    <a:bodyPr/>
                    <a:lstStyle/>
                    <a:p>
                      <a:pPr marL="0" marR="0" algn="just">
                        <a:lnSpc>
                          <a:spcPts val="1200"/>
                        </a:lnSpc>
                        <a:buNone/>
                      </a:pPr>
                      <a:r>
                        <a:rPr lang="en-US" sz="900">
                          <a:effectLst/>
                          <a:latin typeface="Times New Roman" panose="02020603050405020304" pitchFamily="18" charset="0"/>
                          <a:ea typeface="Calibri" panose="020F0502020204030204" pitchFamily="34" charset="0"/>
                          <a:cs typeface="Vrinda" panose="020B0502040204020203" pitchFamily="34" charset="0"/>
                        </a:rPr>
                        <a:t>Client 2</a:t>
                      </a:r>
                      <a:endParaRPr lang="en-US" sz="90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a:effectLst/>
                          <a:latin typeface="Times New Roman" panose="02020603050405020304" pitchFamily="18" charset="0"/>
                          <a:ea typeface="Calibri" panose="020F0502020204030204" pitchFamily="34" charset="0"/>
                          <a:cs typeface="Vrinda" panose="020B0502040204020203" pitchFamily="34" charset="0"/>
                        </a:rPr>
                        <a:t>96.18</a:t>
                      </a:r>
                      <a:endParaRPr lang="en-US" sz="90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dirty="0">
                          <a:effectLst/>
                          <a:latin typeface="Times New Roman" panose="02020603050405020304" pitchFamily="18" charset="0"/>
                          <a:ea typeface="Calibri" panose="020F0502020204030204" pitchFamily="34" charset="0"/>
                          <a:cs typeface="Vrinda" panose="020B0502040204020203" pitchFamily="34" charset="0"/>
                        </a:rPr>
                        <a:t>93.50</a:t>
                      </a:r>
                      <a:endParaRPr lang="en-US" sz="900" dirty="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0158656"/>
                  </a:ext>
                </a:extLst>
              </a:tr>
              <a:tr h="331333">
                <a:tc>
                  <a:txBody>
                    <a:bodyPr/>
                    <a:lstStyle/>
                    <a:p>
                      <a:pPr marL="0" marR="0" algn="just">
                        <a:lnSpc>
                          <a:spcPts val="1200"/>
                        </a:lnSpc>
                        <a:buNone/>
                      </a:pPr>
                      <a:r>
                        <a:rPr lang="en-US" sz="900">
                          <a:effectLst/>
                          <a:latin typeface="Times New Roman" panose="02020603050405020304" pitchFamily="18" charset="0"/>
                          <a:ea typeface="Calibri" panose="020F0502020204030204" pitchFamily="34" charset="0"/>
                          <a:cs typeface="Vrinda" panose="020B0502040204020203" pitchFamily="34" charset="0"/>
                        </a:rPr>
                        <a:t>Client 3</a:t>
                      </a:r>
                      <a:endParaRPr lang="en-US" sz="90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a:effectLst/>
                          <a:latin typeface="Times New Roman" panose="02020603050405020304" pitchFamily="18" charset="0"/>
                          <a:ea typeface="Calibri" panose="020F0502020204030204" pitchFamily="34" charset="0"/>
                          <a:cs typeface="Vrinda" panose="020B0502040204020203" pitchFamily="34" charset="0"/>
                        </a:rPr>
                        <a:t>97.97</a:t>
                      </a:r>
                      <a:endParaRPr lang="en-US" sz="90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a:effectLst/>
                          <a:latin typeface="Times New Roman" panose="02020603050405020304" pitchFamily="18" charset="0"/>
                          <a:ea typeface="Calibri" panose="020F0502020204030204" pitchFamily="34" charset="0"/>
                          <a:cs typeface="Vrinda" panose="020B0502040204020203" pitchFamily="34" charset="0"/>
                        </a:rPr>
                        <a:t>95.09</a:t>
                      </a:r>
                      <a:endParaRPr lang="en-US" sz="90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2475206"/>
                  </a:ext>
                </a:extLst>
              </a:tr>
              <a:tr h="779605">
                <a:tc>
                  <a:txBody>
                    <a:bodyPr/>
                    <a:lstStyle/>
                    <a:p>
                      <a:pPr marL="0" marR="0" algn="just">
                        <a:lnSpc>
                          <a:spcPts val="1200"/>
                        </a:lnSpc>
                        <a:buNone/>
                      </a:pPr>
                      <a:r>
                        <a:rPr lang="en-US" sz="900" b="1" dirty="0">
                          <a:effectLst/>
                          <a:latin typeface="Times New Roman" panose="02020603050405020304" pitchFamily="18" charset="0"/>
                          <a:ea typeface="Calibri" panose="020F0502020204030204" pitchFamily="34" charset="0"/>
                          <a:cs typeface="Vrinda" panose="020B0502040204020203" pitchFamily="34" charset="0"/>
                        </a:rPr>
                        <a:t>Global Model (Hybrid EfficientNetB3-InceptionV3 Ensemble Mode)</a:t>
                      </a:r>
                      <a:endParaRPr lang="en-US" sz="900" dirty="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b="1">
                          <a:effectLst/>
                          <a:latin typeface="Times New Roman" panose="02020603050405020304" pitchFamily="18" charset="0"/>
                          <a:ea typeface="Calibri" panose="020F0502020204030204" pitchFamily="34" charset="0"/>
                          <a:cs typeface="Vrinda" panose="020B0502040204020203" pitchFamily="34" charset="0"/>
                        </a:rPr>
                        <a:t>94.97</a:t>
                      </a:r>
                      <a:endParaRPr lang="en-US" sz="90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ts val="1200"/>
                        </a:lnSpc>
                        <a:buNone/>
                      </a:pPr>
                      <a:r>
                        <a:rPr lang="en-US" sz="900" b="1" dirty="0">
                          <a:effectLst/>
                          <a:latin typeface="Times New Roman" panose="02020603050405020304" pitchFamily="18" charset="0"/>
                          <a:ea typeface="Calibri" panose="020F0502020204030204" pitchFamily="34" charset="0"/>
                          <a:cs typeface="Vrinda" panose="020B0502040204020203" pitchFamily="34" charset="0"/>
                        </a:rPr>
                        <a:t>93.00</a:t>
                      </a:r>
                      <a:endParaRPr lang="en-US" sz="900" dirty="0">
                        <a:effectLst/>
                        <a:latin typeface="Calibri" panose="020F0502020204030204" pitchFamily="34" charset="0"/>
                        <a:ea typeface="Calibri" panose="020F0502020204030204" pitchFamily="34" charset="0"/>
                        <a:cs typeface="Vrinda" panose="020B0502040204020203" pitchFamily="34" charset="0"/>
                      </a:endParaRPr>
                    </a:p>
                  </a:txBody>
                  <a:tcPr marL="58716" marR="587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4981781"/>
                  </a:ext>
                </a:extLst>
              </a:tr>
            </a:tbl>
          </a:graphicData>
        </a:graphic>
      </p:graphicFrame>
      <p:graphicFrame>
        <p:nvGraphicFramePr>
          <p:cNvPr id="12" name="Table 11">
            <a:extLst>
              <a:ext uri="{FF2B5EF4-FFF2-40B4-BE49-F238E27FC236}">
                <a16:creationId xmlns:a16="http://schemas.microsoft.com/office/drawing/2014/main" id="{892D7752-DABE-207F-4950-32953E528ADC}"/>
              </a:ext>
            </a:extLst>
          </p:cNvPr>
          <p:cNvGraphicFramePr>
            <a:graphicFrameLocks noGrp="1"/>
          </p:cNvGraphicFramePr>
          <p:nvPr>
            <p:extLst>
              <p:ext uri="{D42A27DB-BD31-4B8C-83A1-F6EECF244321}">
                <p14:modId xmlns:p14="http://schemas.microsoft.com/office/powerpoint/2010/main" val="1478575742"/>
              </p:ext>
            </p:extLst>
          </p:nvPr>
        </p:nvGraphicFramePr>
        <p:xfrm>
          <a:off x="168056" y="2000346"/>
          <a:ext cx="3126013" cy="2926080"/>
        </p:xfrm>
        <a:graphic>
          <a:graphicData uri="http://schemas.openxmlformats.org/drawingml/2006/table">
            <a:tbl>
              <a:tblPr firstRow="1" firstCol="1" bandRow="1">
                <a:tableStyleId>{5940675A-B579-460E-94D1-54222C63F5DA}</a:tableStyleId>
              </a:tblPr>
              <a:tblGrid>
                <a:gridCol w="1563347">
                  <a:extLst>
                    <a:ext uri="{9D8B030D-6E8A-4147-A177-3AD203B41FA5}">
                      <a16:colId xmlns:a16="http://schemas.microsoft.com/office/drawing/2014/main" val="1459151879"/>
                    </a:ext>
                  </a:extLst>
                </a:gridCol>
                <a:gridCol w="1562666">
                  <a:extLst>
                    <a:ext uri="{9D8B030D-6E8A-4147-A177-3AD203B41FA5}">
                      <a16:colId xmlns:a16="http://schemas.microsoft.com/office/drawing/2014/main" val="845377757"/>
                    </a:ext>
                  </a:extLst>
                </a:gridCol>
              </a:tblGrid>
              <a:tr h="237208">
                <a:tc>
                  <a:txBody>
                    <a:bodyPr/>
                    <a:lstStyle/>
                    <a:p>
                      <a:pPr marL="320040" marR="0" indent="-320040" algn="ctr">
                        <a:spcBef>
                          <a:spcPts val="300"/>
                        </a:spcBef>
                        <a:spcAft>
                          <a:spcPts val="525"/>
                        </a:spcAft>
                        <a:buNone/>
                      </a:pPr>
                      <a:r>
                        <a:rPr lang="en-US" sz="1600" b="1">
                          <a:solidFill>
                            <a:schemeClr val="bg1"/>
                          </a:solidFill>
                          <a:effectLst/>
                        </a:rPr>
                        <a:t>Model</a:t>
                      </a:r>
                      <a:endParaRPr lang="en-US" sz="1400" b="1">
                        <a:solidFill>
                          <a:schemeClr val="bg1"/>
                        </a:solidFill>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solidFill>
                      <a:srgbClr val="4F81BD"/>
                    </a:solidFill>
                  </a:tcPr>
                </a:tc>
                <a:tc>
                  <a:txBody>
                    <a:bodyPr/>
                    <a:lstStyle/>
                    <a:p>
                      <a:pPr marL="320040" marR="0" indent="-320040" algn="ctr">
                        <a:spcBef>
                          <a:spcPts val="300"/>
                        </a:spcBef>
                        <a:spcAft>
                          <a:spcPts val="525"/>
                        </a:spcAft>
                        <a:buNone/>
                      </a:pPr>
                      <a:r>
                        <a:rPr lang="en-US" sz="1600" b="1" dirty="0">
                          <a:solidFill>
                            <a:schemeClr val="bg1"/>
                          </a:solidFill>
                          <a:effectLst/>
                        </a:rPr>
                        <a:t>Accuracy</a:t>
                      </a:r>
                      <a:endParaRPr lang="en-US" sz="1400" b="1" dirty="0">
                        <a:solidFill>
                          <a:schemeClr val="bg1"/>
                        </a:solidFill>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solidFill>
                      <a:srgbClr val="4F81BD"/>
                    </a:solidFill>
                  </a:tcPr>
                </a:tc>
                <a:extLst>
                  <a:ext uri="{0D108BD9-81ED-4DB2-BD59-A6C34878D82A}">
                    <a16:rowId xmlns:a16="http://schemas.microsoft.com/office/drawing/2014/main" val="1839987158"/>
                  </a:ext>
                </a:extLst>
              </a:tr>
              <a:tr h="237208">
                <a:tc>
                  <a:txBody>
                    <a:bodyPr/>
                    <a:lstStyle/>
                    <a:p>
                      <a:pPr marL="320040" marR="0" indent="-320040">
                        <a:spcBef>
                          <a:spcPts val="300"/>
                        </a:spcBef>
                        <a:buNone/>
                      </a:pPr>
                      <a:r>
                        <a:rPr lang="en-US" sz="1600">
                          <a:effectLst/>
                        </a:rPr>
                        <a:t>GCN</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62.34%</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1016525056"/>
                  </a:ext>
                </a:extLst>
              </a:tr>
              <a:tr h="237208">
                <a:tc>
                  <a:txBody>
                    <a:bodyPr/>
                    <a:lstStyle/>
                    <a:p>
                      <a:pPr marL="320040" marR="0" indent="-320040">
                        <a:spcBef>
                          <a:spcPts val="300"/>
                        </a:spcBef>
                        <a:buNone/>
                      </a:pPr>
                      <a:r>
                        <a:rPr lang="en-US" sz="1600">
                          <a:effectLst/>
                        </a:rPr>
                        <a:t>GAT</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61.23%</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3067977654"/>
                  </a:ext>
                </a:extLst>
              </a:tr>
              <a:tr h="237208">
                <a:tc>
                  <a:txBody>
                    <a:bodyPr/>
                    <a:lstStyle/>
                    <a:p>
                      <a:pPr marL="320040" marR="0" indent="-320040">
                        <a:spcBef>
                          <a:spcPts val="300"/>
                        </a:spcBef>
                        <a:buNone/>
                      </a:pPr>
                      <a:r>
                        <a:rPr lang="en-US" sz="1600">
                          <a:effectLst/>
                        </a:rPr>
                        <a:t>Hybrid GCN-GAT</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54.76%</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3466708225"/>
                  </a:ext>
                </a:extLst>
              </a:tr>
              <a:tr h="237208">
                <a:tc>
                  <a:txBody>
                    <a:bodyPr/>
                    <a:lstStyle/>
                    <a:p>
                      <a:pPr marL="320040" marR="0" indent="-320040">
                        <a:spcBef>
                          <a:spcPts val="300"/>
                        </a:spcBef>
                        <a:buNone/>
                      </a:pPr>
                      <a:r>
                        <a:rPr lang="en-US" sz="1600">
                          <a:effectLst/>
                        </a:rPr>
                        <a:t>VGG-16</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82.79%</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1314179262"/>
                  </a:ext>
                </a:extLst>
              </a:tr>
              <a:tr h="237208">
                <a:tc>
                  <a:txBody>
                    <a:bodyPr/>
                    <a:lstStyle/>
                    <a:p>
                      <a:pPr marL="320040" marR="0" indent="-320040">
                        <a:spcBef>
                          <a:spcPts val="300"/>
                        </a:spcBef>
                        <a:buNone/>
                      </a:pPr>
                      <a:r>
                        <a:rPr lang="en-US" sz="1600">
                          <a:effectLst/>
                        </a:rPr>
                        <a:t>VGG-19</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86.23%</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3701637479"/>
                  </a:ext>
                </a:extLst>
              </a:tr>
              <a:tr h="237208">
                <a:tc>
                  <a:txBody>
                    <a:bodyPr/>
                    <a:lstStyle/>
                    <a:p>
                      <a:pPr marL="320040" marR="0" indent="-320040">
                        <a:spcBef>
                          <a:spcPts val="300"/>
                        </a:spcBef>
                        <a:buNone/>
                      </a:pPr>
                      <a:r>
                        <a:rPr lang="en-US" sz="1600">
                          <a:effectLst/>
                        </a:rPr>
                        <a:t>ResNet-50</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89.67%</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1812761475"/>
                  </a:ext>
                </a:extLst>
              </a:tr>
              <a:tr h="237208">
                <a:tc>
                  <a:txBody>
                    <a:bodyPr/>
                    <a:lstStyle/>
                    <a:p>
                      <a:pPr marL="320040" marR="0" indent="-320040">
                        <a:spcBef>
                          <a:spcPts val="300"/>
                        </a:spcBef>
                        <a:buNone/>
                      </a:pPr>
                      <a:r>
                        <a:rPr lang="en-US" sz="1600">
                          <a:effectLst/>
                        </a:rPr>
                        <a:t>DenseNet-121</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90%</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3409922584"/>
                  </a:ext>
                </a:extLst>
              </a:tr>
              <a:tr h="237208">
                <a:tc>
                  <a:txBody>
                    <a:bodyPr/>
                    <a:lstStyle/>
                    <a:p>
                      <a:pPr marL="320040" marR="0" indent="-320040">
                        <a:spcBef>
                          <a:spcPts val="300"/>
                        </a:spcBef>
                        <a:buNone/>
                      </a:pPr>
                      <a:r>
                        <a:rPr lang="en-US" sz="1600">
                          <a:effectLst/>
                        </a:rPr>
                        <a:t>EfficientNet-B3</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91.02%</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2732215697"/>
                  </a:ext>
                </a:extLst>
              </a:tr>
              <a:tr h="237208">
                <a:tc>
                  <a:txBody>
                    <a:bodyPr/>
                    <a:lstStyle/>
                    <a:p>
                      <a:pPr marL="320040" marR="0" indent="-320040">
                        <a:spcBef>
                          <a:spcPts val="300"/>
                        </a:spcBef>
                        <a:buNone/>
                      </a:pPr>
                      <a:r>
                        <a:rPr lang="en-US" sz="1600">
                          <a:effectLst/>
                        </a:rPr>
                        <a:t>Inception-V3</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89.35%</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833382176"/>
                  </a:ext>
                </a:extLst>
              </a:tr>
              <a:tr h="237208">
                <a:tc>
                  <a:txBody>
                    <a:bodyPr/>
                    <a:lstStyle/>
                    <a:p>
                      <a:pPr marL="320040" marR="0" indent="-320040">
                        <a:spcBef>
                          <a:spcPts val="300"/>
                        </a:spcBef>
                        <a:buNone/>
                      </a:pPr>
                      <a:r>
                        <a:rPr lang="en-US" sz="1600">
                          <a:effectLst/>
                        </a:rPr>
                        <a:t>ViT-b-16</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a:effectLst/>
                        </a:rPr>
                        <a:t>78.45%</a:t>
                      </a:r>
                      <a:endParaRPr lang="en-US" sz="140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2557335299"/>
                  </a:ext>
                </a:extLst>
              </a:tr>
              <a:tr h="237208">
                <a:tc>
                  <a:txBody>
                    <a:bodyPr/>
                    <a:lstStyle/>
                    <a:p>
                      <a:pPr marL="320040" marR="0" indent="-320040">
                        <a:spcBef>
                          <a:spcPts val="300"/>
                        </a:spcBef>
                        <a:buNone/>
                      </a:pPr>
                      <a:r>
                        <a:rPr lang="en-US" sz="1600" b="1">
                          <a:effectLst/>
                        </a:rPr>
                        <a:t>Proposed model</a:t>
                      </a:r>
                      <a:endParaRPr lang="en-US" sz="1400" b="1">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tc>
                  <a:txBody>
                    <a:bodyPr/>
                    <a:lstStyle/>
                    <a:p>
                      <a:pPr marL="320040" marR="0" indent="-320040">
                        <a:spcBef>
                          <a:spcPts val="300"/>
                        </a:spcBef>
                        <a:spcAft>
                          <a:spcPts val="525"/>
                        </a:spcAft>
                        <a:buNone/>
                      </a:pPr>
                      <a:r>
                        <a:rPr lang="en-US" sz="1600" b="1" dirty="0">
                          <a:effectLst/>
                        </a:rPr>
                        <a:t>93.62%</a:t>
                      </a:r>
                      <a:endParaRPr lang="en-US" sz="1400" b="1" dirty="0">
                        <a:effectLst/>
                        <a:latin typeface="Calibri" panose="020F0502020204030204" pitchFamily="34" charset="0"/>
                        <a:ea typeface="Calibri" panose="020F0502020204030204" pitchFamily="34" charset="0"/>
                        <a:cs typeface="Vrinda" panose="020B0502040204020203" pitchFamily="34" charset="0"/>
                      </a:endParaRPr>
                    </a:p>
                  </a:txBody>
                  <a:tcPr marL="88543" marR="88543" marT="0" marB="0"/>
                </a:tc>
                <a:extLst>
                  <a:ext uri="{0D108BD9-81ED-4DB2-BD59-A6C34878D82A}">
                    <a16:rowId xmlns:a16="http://schemas.microsoft.com/office/drawing/2014/main" val="51349214"/>
                  </a:ext>
                </a:extLst>
              </a:tr>
            </a:tbl>
          </a:graphicData>
        </a:graphic>
      </p:graphicFrame>
      <p:sp>
        <p:nvSpPr>
          <p:cNvPr id="13" name="TextBox 12">
            <a:extLst>
              <a:ext uri="{FF2B5EF4-FFF2-40B4-BE49-F238E27FC236}">
                <a16:creationId xmlns:a16="http://schemas.microsoft.com/office/drawing/2014/main" id="{B68E73E7-D025-BA9A-0C65-BA909BF18E08}"/>
              </a:ext>
            </a:extLst>
          </p:cNvPr>
          <p:cNvSpPr txBox="1"/>
          <p:nvPr/>
        </p:nvSpPr>
        <p:spPr>
          <a:xfrm>
            <a:off x="171984" y="1454574"/>
            <a:ext cx="3276600"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T</a:t>
            </a:r>
            <a:r>
              <a:rPr lang="en-UM" sz="1200" dirty="0">
                <a:latin typeface="Times New Roman" panose="02020603050405020304" pitchFamily="18" charset="0"/>
                <a:cs typeface="Times New Roman" panose="02020603050405020304" pitchFamily="18" charset="0"/>
              </a:rPr>
              <a:t>able II: Proposed model and Baseline model comparison</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6449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DA378-4919-A507-0053-8EFF57440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B78FF-587A-C24A-D92D-FC550A623A14}"/>
              </a:ext>
            </a:extLst>
          </p:cNvPr>
          <p:cNvSpPr>
            <a:spLocks noGrp="1"/>
          </p:cNvSpPr>
          <p:nvPr>
            <p:ph type="title"/>
          </p:nvPr>
        </p:nvSpPr>
        <p:spPr>
          <a:xfrm>
            <a:off x="1698320" y="253633"/>
            <a:ext cx="8795360" cy="868362"/>
          </a:xfrm>
        </p:spPr>
        <p:txBody>
          <a:bodyPr>
            <a:normAutofit/>
          </a:bodyPr>
          <a:lstStyle/>
          <a:p>
            <a:r>
              <a:rPr lang="en-US" dirty="0">
                <a:solidFill>
                  <a:srgbClr val="7030A0"/>
                </a:solidFill>
                <a:latin typeface="Times New Roman" pitchFamily="18" charset="0"/>
                <a:cs typeface="Times New Roman" pitchFamily="18" charset="0"/>
              </a:rPr>
              <a:t>Analysis</a:t>
            </a:r>
            <a:r>
              <a:rPr lang="en-UM" dirty="0">
                <a:solidFill>
                  <a:srgbClr val="7030A0"/>
                </a:solidFill>
                <a:latin typeface="Times New Roman" pitchFamily="18" charset="0"/>
                <a:cs typeface="Times New Roman" pitchFamily="18" charset="0"/>
              </a:rPr>
              <a:t> of Ablation Study</a:t>
            </a:r>
            <a:endParaRPr lang="en-US" dirty="0">
              <a:solidFill>
                <a:srgbClr val="7030A0"/>
              </a:solidFill>
            </a:endParaRPr>
          </a:p>
        </p:txBody>
      </p:sp>
      <p:sp>
        <p:nvSpPr>
          <p:cNvPr id="4" name="Slide Number Placeholder 3">
            <a:extLst>
              <a:ext uri="{FF2B5EF4-FFF2-40B4-BE49-F238E27FC236}">
                <a16:creationId xmlns:a16="http://schemas.microsoft.com/office/drawing/2014/main" id="{EF75B2E1-2F3A-A86A-EE9B-F530E3FB8DDC}"/>
              </a:ext>
            </a:extLst>
          </p:cNvPr>
          <p:cNvSpPr>
            <a:spLocks noGrp="1"/>
          </p:cNvSpPr>
          <p:nvPr>
            <p:ph type="sldNum" sz="quarter" idx="16"/>
          </p:nvPr>
        </p:nvSpPr>
        <p:spPr/>
        <p:txBody>
          <a:bodyPr/>
          <a:lstStyle/>
          <a:p>
            <a:pPr>
              <a:defRPr/>
            </a:pPr>
            <a:fld id="{4CD333A3-7515-47B8-9EDC-EE0892D9C861}" type="slidenum">
              <a:rPr lang="en-US" smtClean="0"/>
              <a:pPr>
                <a:defRPr/>
              </a:pPr>
              <a:t>16</a:t>
            </a:fld>
            <a:endParaRPr lang="en-US" dirty="0"/>
          </a:p>
        </p:txBody>
      </p:sp>
      <p:sp>
        <p:nvSpPr>
          <p:cNvPr id="10" name="TextBox 9">
            <a:extLst>
              <a:ext uri="{FF2B5EF4-FFF2-40B4-BE49-F238E27FC236}">
                <a16:creationId xmlns:a16="http://schemas.microsoft.com/office/drawing/2014/main" id="{D580C820-7821-DE98-FC06-C0034402D5CE}"/>
              </a:ext>
            </a:extLst>
          </p:cNvPr>
          <p:cNvSpPr txBox="1"/>
          <p:nvPr/>
        </p:nvSpPr>
        <p:spPr>
          <a:xfrm>
            <a:off x="6644537" y="1635474"/>
            <a:ext cx="4501542" cy="276999"/>
          </a:xfrm>
          <a:prstGeom prst="rect">
            <a:avLst/>
          </a:prstGeom>
          <a:noFill/>
        </p:spPr>
        <p:txBody>
          <a:bodyPr wrap="square" rtlCol="0">
            <a:spAutoFit/>
          </a:bodyPr>
          <a:lstStyle/>
          <a:p>
            <a:r>
              <a:rPr lang="en-UM" sz="1200" dirty="0">
                <a:latin typeface="Times New Roman" panose="02020603050405020304" pitchFamily="18" charset="0"/>
                <a:cs typeface="Times New Roman" panose="02020603050405020304" pitchFamily="18" charset="0"/>
              </a:rPr>
              <a:t>Table IV: Ablation study Of Proposed and baseline models</a:t>
            </a:r>
            <a:endParaRPr lang="en-US" sz="12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CA621AA-4B7C-056B-CE91-7C50B942620D}"/>
              </a:ext>
            </a:extLst>
          </p:cNvPr>
          <p:cNvGraphicFramePr>
            <a:graphicFrameLocks noGrp="1"/>
          </p:cNvGraphicFramePr>
          <p:nvPr>
            <p:extLst>
              <p:ext uri="{D42A27DB-BD31-4B8C-83A1-F6EECF244321}">
                <p14:modId xmlns:p14="http://schemas.microsoft.com/office/powerpoint/2010/main" val="4122392619"/>
              </p:ext>
            </p:extLst>
          </p:nvPr>
        </p:nvGraphicFramePr>
        <p:xfrm>
          <a:off x="6019800" y="2133600"/>
          <a:ext cx="5751017" cy="2873232"/>
        </p:xfrm>
        <a:graphic>
          <a:graphicData uri="http://schemas.openxmlformats.org/drawingml/2006/table">
            <a:tbl>
              <a:tblPr firstRow="1" firstCol="1" bandRow="1"/>
              <a:tblGrid>
                <a:gridCol w="1179016">
                  <a:extLst>
                    <a:ext uri="{9D8B030D-6E8A-4147-A177-3AD203B41FA5}">
                      <a16:colId xmlns:a16="http://schemas.microsoft.com/office/drawing/2014/main" val="888038471"/>
                    </a:ext>
                  </a:extLst>
                </a:gridCol>
                <a:gridCol w="1828800">
                  <a:extLst>
                    <a:ext uri="{9D8B030D-6E8A-4147-A177-3AD203B41FA5}">
                      <a16:colId xmlns:a16="http://schemas.microsoft.com/office/drawing/2014/main" val="3089206661"/>
                    </a:ext>
                  </a:extLst>
                </a:gridCol>
                <a:gridCol w="1676400">
                  <a:extLst>
                    <a:ext uri="{9D8B030D-6E8A-4147-A177-3AD203B41FA5}">
                      <a16:colId xmlns:a16="http://schemas.microsoft.com/office/drawing/2014/main" val="2315034283"/>
                    </a:ext>
                  </a:extLst>
                </a:gridCol>
                <a:gridCol w="1066801">
                  <a:extLst>
                    <a:ext uri="{9D8B030D-6E8A-4147-A177-3AD203B41FA5}">
                      <a16:colId xmlns:a16="http://schemas.microsoft.com/office/drawing/2014/main" val="3949983074"/>
                    </a:ext>
                  </a:extLst>
                </a:gridCol>
              </a:tblGrid>
              <a:tr h="227952">
                <a:tc>
                  <a:txBody>
                    <a:bodyPr/>
                    <a:lstStyle/>
                    <a:p>
                      <a:pPr marL="0" marR="0">
                        <a:buNone/>
                      </a:pPr>
                      <a:r>
                        <a:rPr lang="en-US" sz="1200" b="1">
                          <a:effectLst/>
                          <a:latin typeface="Calibri" panose="020F0502020204030204" pitchFamily="34" charset="0"/>
                          <a:ea typeface="Calibri" panose="020F0502020204030204" pitchFamily="34" charset="0"/>
                          <a:cs typeface="Vrinda" panose="020B0502040204020203" pitchFamily="34" charset="0"/>
                        </a:rPr>
                        <a:t>Model</a:t>
                      </a:r>
                      <a:endParaRPr lang="en-US" sz="1200">
                        <a:effectLst/>
                        <a:latin typeface="Calibri" panose="020F0502020204030204" pitchFamily="34" charset="0"/>
                        <a:ea typeface="Calibri" panose="020F0502020204030204" pitchFamily="34" charset="0"/>
                        <a:cs typeface="Vrinda" panose="020B0502040204020203" pitchFamily="34" charset="0"/>
                      </a:endParaRP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b="1">
                          <a:effectLst/>
                          <a:latin typeface="Calibri" panose="020F0502020204030204" pitchFamily="34" charset="0"/>
                          <a:ea typeface="Calibri" panose="020F0502020204030204" pitchFamily="34" charset="0"/>
                          <a:cs typeface="Vrinda" panose="020B0502040204020203" pitchFamily="34" charset="0"/>
                        </a:rPr>
                        <a:t>Without SMOTE</a:t>
                      </a:r>
                      <a:endParaRPr lang="en-US" sz="1200">
                        <a:effectLst/>
                        <a:latin typeface="Calibri" panose="020F0502020204030204" pitchFamily="34" charset="0"/>
                        <a:ea typeface="Calibri" panose="020F0502020204030204" pitchFamily="34" charset="0"/>
                        <a:cs typeface="Vrinda" panose="020B0502040204020203" pitchFamily="34" charset="0"/>
                      </a:endParaRP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b="1" dirty="0">
                          <a:effectLst/>
                          <a:latin typeface="Calibri" panose="020F0502020204030204" pitchFamily="34" charset="0"/>
                          <a:ea typeface="Calibri" panose="020F0502020204030204" pitchFamily="34" charset="0"/>
                          <a:cs typeface="Vrinda" panose="020B0502040204020203" pitchFamily="34" charset="0"/>
                        </a:rPr>
                        <a:t>Without Augmentation</a:t>
                      </a:r>
                      <a:endParaRPr lang="en-US" sz="1200" dirty="0">
                        <a:effectLst/>
                        <a:latin typeface="Calibri" panose="020F0502020204030204" pitchFamily="34" charset="0"/>
                        <a:ea typeface="Calibri" panose="020F0502020204030204" pitchFamily="34" charset="0"/>
                        <a:cs typeface="Vrinda" panose="020B0502040204020203" pitchFamily="34" charset="0"/>
                      </a:endParaRP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b="1">
                          <a:effectLst/>
                          <a:latin typeface="Calibri" panose="020F0502020204030204" pitchFamily="34" charset="0"/>
                          <a:ea typeface="Calibri" panose="020F0502020204030204" pitchFamily="34" charset="0"/>
                          <a:cs typeface="Vrinda" panose="020B0502040204020203" pitchFamily="34" charset="0"/>
                        </a:rPr>
                        <a:t>Accuracy</a:t>
                      </a:r>
                      <a:endParaRPr lang="en-US" sz="1200">
                        <a:effectLst/>
                        <a:latin typeface="Calibri" panose="020F0502020204030204" pitchFamily="34" charset="0"/>
                        <a:ea typeface="Calibri" panose="020F0502020204030204" pitchFamily="34" charset="0"/>
                        <a:cs typeface="Vrinda" panose="020B0502040204020203" pitchFamily="34" charset="0"/>
                      </a:endParaRP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6240316"/>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GCN</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52%</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61%</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62.34%</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7600657"/>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GAT</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54%</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62%</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61.23%</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9093259"/>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Hybrid GCN-GAT</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50%</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54%</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54.76%</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0291418"/>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VGG-16</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68%</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85%</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82.79%</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04220"/>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VGG-19</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67%</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84%</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86.23%</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4809198"/>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ResNet-50</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66%</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88%</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89.67%</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1332654"/>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DenseNet-121</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72%</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90%</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90%</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9467276"/>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EfficientNet-B3</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67%</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90%</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91.02%</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5271994"/>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Inception-V3</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74%</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89%</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89.35%</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5760401"/>
                  </a:ext>
                </a:extLst>
              </a:tr>
              <a:tr h="227952">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ViT-b-16</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59%</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77%</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a:effectLst/>
                          <a:latin typeface="Calibri" panose="020F0502020204030204" pitchFamily="34" charset="0"/>
                          <a:ea typeface="Calibri" panose="020F0502020204030204" pitchFamily="34" charset="0"/>
                          <a:cs typeface="Vrinda" panose="020B0502040204020203" pitchFamily="34" charset="0"/>
                        </a:rPr>
                        <a:t>78.45%</a:t>
                      </a: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0575515"/>
                  </a:ext>
                </a:extLst>
              </a:tr>
              <a:tr h="227952">
                <a:tc>
                  <a:txBody>
                    <a:bodyPr/>
                    <a:lstStyle/>
                    <a:p>
                      <a:pPr marL="0" marR="0">
                        <a:buNone/>
                      </a:pPr>
                      <a:r>
                        <a:rPr lang="en-US" sz="1200" b="1">
                          <a:effectLst/>
                          <a:latin typeface="Calibri" panose="020F0502020204030204" pitchFamily="34" charset="0"/>
                          <a:ea typeface="Calibri" panose="020F0502020204030204" pitchFamily="34" charset="0"/>
                          <a:cs typeface="Vrinda" panose="020B0502040204020203" pitchFamily="34" charset="0"/>
                        </a:rPr>
                        <a:t>Proposed model</a:t>
                      </a:r>
                      <a:endParaRPr lang="en-US" sz="1200">
                        <a:effectLst/>
                        <a:latin typeface="Calibri" panose="020F0502020204030204" pitchFamily="34" charset="0"/>
                        <a:ea typeface="Calibri" panose="020F0502020204030204" pitchFamily="34" charset="0"/>
                        <a:cs typeface="Vrinda" panose="020B0502040204020203" pitchFamily="34" charset="0"/>
                      </a:endParaRP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b="1">
                          <a:effectLst/>
                          <a:latin typeface="Calibri" panose="020F0502020204030204" pitchFamily="34" charset="0"/>
                          <a:ea typeface="Calibri" panose="020F0502020204030204" pitchFamily="34" charset="0"/>
                          <a:cs typeface="Vrinda" panose="020B0502040204020203" pitchFamily="34" charset="0"/>
                        </a:rPr>
                        <a:t>80%</a:t>
                      </a:r>
                      <a:endParaRPr lang="en-US" sz="1200">
                        <a:effectLst/>
                        <a:latin typeface="Calibri" panose="020F0502020204030204" pitchFamily="34" charset="0"/>
                        <a:ea typeface="Calibri" panose="020F0502020204030204" pitchFamily="34" charset="0"/>
                        <a:cs typeface="Vrinda" panose="020B0502040204020203" pitchFamily="34" charset="0"/>
                      </a:endParaRP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b="1">
                          <a:effectLst/>
                          <a:latin typeface="Calibri" panose="020F0502020204030204" pitchFamily="34" charset="0"/>
                          <a:ea typeface="Calibri" panose="020F0502020204030204" pitchFamily="34" charset="0"/>
                          <a:cs typeface="Vrinda" panose="020B0502040204020203" pitchFamily="34" charset="0"/>
                        </a:rPr>
                        <a:t>92.81%</a:t>
                      </a:r>
                      <a:endParaRPr lang="en-US" sz="1200">
                        <a:effectLst/>
                        <a:latin typeface="Calibri" panose="020F0502020204030204" pitchFamily="34" charset="0"/>
                        <a:ea typeface="Calibri" panose="020F0502020204030204" pitchFamily="34" charset="0"/>
                        <a:cs typeface="Vrinda" panose="020B0502040204020203" pitchFamily="34" charset="0"/>
                      </a:endParaRP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200" b="1" dirty="0">
                          <a:effectLst/>
                          <a:latin typeface="Calibri" panose="020F0502020204030204" pitchFamily="34" charset="0"/>
                          <a:ea typeface="Calibri" panose="020F0502020204030204" pitchFamily="34" charset="0"/>
                          <a:cs typeface="Vrinda" panose="020B0502040204020203" pitchFamily="34" charset="0"/>
                        </a:rPr>
                        <a:t>93.62%</a:t>
                      </a:r>
                      <a:endParaRPr lang="en-US" sz="1200" dirty="0">
                        <a:effectLst/>
                        <a:latin typeface="Calibri" panose="020F0502020204030204" pitchFamily="34" charset="0"/>
                        <a:ea typeface="Calibri" panose="020F0502020204030204" pitchFamily="34" charset="0"/>
                        <a:cs typeface="Vrinda" panose="020B0502040204020203" pitchFamily="34" charset="0"/>
                      </a:endParaRPr>
                    </a:p>
                  </a:txBody>
                  <a:tcPr marL="77180" marR="77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1168592"/>
                  </a:ext>
                </a:extLst>
              </a:tr>
            </a:tbl>
          </a:graphicData>
        </a:graphic>
      </p:graphicFrame>
      <p:sp>
        <p:nvSpPr>
          <p:cNvPr id="6" name="TextBox 5">
            <a:extLst>
              <a:ext uri="{FF2B5EF4-FFF2-40B4-BE49-F238E27FC236}">
                <a16:creationId xmlns:a16="http://schemas.microsoft.com/office/drawing/2014/main" id="{84E945B9-D495-0072-911D-B24F36DDFBD0}"/>
              </a:ext>
            </a:extLst>
          </p:cNvPr>
          <p:cNvSpPr txBox="1"/>
          <p:nvPr/>
        </p:nvSpPr>
        <p:spPr>
          <a:xfrm>
            <a:off x="421183" y="2133600"/>
            <a:ext cx="4953000" cy="1754326"/>
          </a:xfrm>
          <a:prstGeom prst="rect">
            <a:avLst/>
          </a:prstGeom>
          <a:noFill/>
        </p:spPr>
        <p:txBody>
          <a:bodyPr wrap="square" rtlCol="0">
            <a:spAutoFit/>
          </a:bodyPr>
          <a:lstStyle/>
          <a:p>
            <a:pPr marL="285750" indent="-285750" algn="just">
              <a:buFont typeface="Wingdings" panose="05000000000000000000" pitchFamily="2" charset="2"/>
              <a:buChar char="Ø"/>
            </a:pPr>
            <a:r>
              <a:rPr lang="en-GB" dirty="0"/>
              <a:t>This table compares different baseline models and shows that the proposed hybrid</a:t>
            </a:r>
            <a:r>
              <a:rPr lang="en-UM" dirty="0"/>
              <a:t> </a:t>
            </a:r>
            <a:r>
              <a:rPr lang="en-GB" dirty="0"/>
              <a:t>ensemble achieves the highest test accuracy (93.62%), and still performs best even when oversampling (SMOTE) or data augmentation are removed.</a:t>
            </a:r>
            <a:endParaRPr lang="en-US" dirty="0"/>
          </a:p>
        </p:txBody>
      </p:sp>
    </p:spTree>
    <p:extLst>
      <p:ext uri="{BB962C8B-B14F-4D97-AF65-F5344CB8AC3E}">
        <p14:creationId xmlns:p14="http://schemas.microsoft.com/office/powerpoint/2010/main" val="3109277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CAB51-DF00-2954-AEAB-7B16D8820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14FAF-B718-F78D-2EA4-44E980A93A9F}"/>
              </a:ext>
            </a:extLst>
          </p:cNvPr>
          <p:cNvSpPr>
            <a:spLocks noGrp="1"/>
          </p:cNvSpPr>
          <p:nvPr>
            <p:ph type="title"/>
          </p:nvPr>
        </p:nvSpPr>
        <p:spPr>
          <a:xfrm>
            <a:off x="1698320" y="253633"/>
            <a:ext cx="8795360" cy="868362"/>
          </a:xfrm>
        </p:spPr>
        <p:txBody>
          <a:bodyPr>
            <a:normAutofit/>
          </a:bodyPr>
          <a:lstStyle/>
          <a:p>
            <a:r>
              <a:rPr lang="en-UM" dirty="0">
                <a:solidFill>
                  <a:srgbClr val="7030A0"/>
                </a:solidFill>
                <a:latin typeface="Times New Roman" pitchFamily="18" charset="0"/>
                <a:cs typeface="Times New Roman" pitchFamily="18" charset="0"/>
              </a:rPr>
              <a:t>Result and </a:t>
            </a:r>
            <a:r>
              <a:rPr lang="en-US" dirty="0">
                <a:solidFill>
                  <a:srgbClr val="7030A0"/>
                </a:solidFill>
                <a:latin typeface="Times New Roman" pitchFamily="18" charset="0"/>
                <a:cs typeface="Times New Roman" pitchFamily="18" charset="0"/>
              </a:rPr>
              <a:t>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57778DEE-9003-625B-FBD6-F3FCAD31970B}"/>
              </a:ext>
            </a:extLst>
          </p:cNvPr>
          <p:cNvSpPr>
            <a:spLocks noGrp="1"/>
          </p:cNvSpPr>
          <p:nvPr>
            <p:ph type="sldNum" sz="quarter" idx="16"/>
          </p:nvPr>
        </p:nvSpPr>
        <p:spPr/>
        <p:txBody>
          <a:bodyPr/>
          <a:lstStyle/>
          <a:p>
            <a:pPr>
              <a:defRPr/>
            </a:pPr>
            <a:fld id="{4CD333A3-7515-47B8-9EDC-EE0892D9C861}" type="slidenum">
              <a:rPr lang="en-US" smtClean="0"/>
              <a:pPr>
                <a:defRPr/>
              </a:pPr>
              <a:t>17</a:t>
            </a:fld>
            <a:endParaRPr lang="en-US" dirty="0"/>
          </a:p>
        </p:txBody>
      </p:sp>
      <p:sp>
        <p:nvSpPr>
          <p:cNvPr id="10" name="TextBox 9">
            <a:extLst>
              <a:ext uri="{FF2B5EF4-FFF2-40B4-BE49-F238E27FC236}">
                <a16:creationId xmlns:a16="http://schemas.microsoft.com/office/drawing/2014/main" id="{22828253-F124-4D99-F3AA-E9CE45FEBB8F}"/>
              </a:ext>
            </a:extLst>
          </p:cNvPr>
          <p:cNvSpPr txBox="1"/>
          <p:nvPr/>
        </p:nvSpPr>
        <p:spPr>
          <a:xfrm>
            <a:off x="7162800" y="3136615"/>
            <a:ext cx="4501542" cy="276999"/>
          </a:xfrm>
          <a:prstGeom prst="rect">
            <a:avLst/>
          </a:prstGeom>
          <a:noFill/>
        </p:spPr>
        <p:txBody>
          <a:bodyPr wrap="square" rtlCol="0">
            <a:spAutoFit/>
          </a:bodyPr>
          <a:lstStyle/>
          <a:p>
            <a:r>
              <a:rPr lang="en-UM" sz="1200" dirty="0">
                <a:latin typeface="Times New Roman" panose="02020603050405020304" pitchFamily="18" charset="0"/>
                <a:cs typeface="Times New Roman" panose="02020603050405020304" pitchFamily="18" charset="0"/>
              </a:rPr>
              <a:t>Fig. 9: </a:t>
            </a:r>
            <a:r>
              <a:rPr lang="en-US" sz="1200" dirty="0">
                <a:latin typeface="Times New Roman" panose="02020603050405020304" pitchFamily="18" charset="0"/>
                <a:cs typeface="Times New Roman" panose="02020603050405020304" pitchFamily="18" charset="0"/>
              </a:rPr>
              <a:t>Grad‑CAM skin‑lesion visualizations</a:t>
            </a:r>
          </a:p>
        </p:txBody>
      </p:sp>
      <p:sp>
        <p:nvSpPr>
          <p:cNvPr id="6" name="TextBox 5">
            <a:extLst>
              <a:ext uri="{FF2B5EF4-FFF2-40B4-BE49-F238E27FC236}">
                <a16:creationId xmlns:a16="http://schemas.microsoft.com/office/drawing/2014/main" id="{3AE3A055-B087-37A6-20E0-DF18E11D11C6}"/>
              </a:ext>
            </a:extLst>
          </p:cNvPr>
          <p:cNvSpPr txBox="1"/>
          <p:nvPr/>
        </p:nvSpPr>
        <p:spPr>
          <a:xfrm>
            <a:off x="228600" y="1548743"/>
            <a:ext cx="4953000" cy="2862322"/>
          </a:xfrm>
          <a:prstGeom prst="rect">
            <a:avLst/>
          </a:prstGeom>
          <a:noFill/>
        </p:spPr>
        <p:txBody>
          <a:bodyPr wrap="square" rtlCol="0">
            <a:spAutoFit/>
          </a:bodyPr>
          <a:lstStyle/>
          <a:p>
            <a:pPr marL="285750" indent="-285750" algn="just">
              <a:buFont typeface="Wingdings" panose="05000000000000000000" pitchFamily="2" charset="2"/>
              <a:buChar char="Ø"/>
            </a:pPr>
            <a:r>
              <a:rPr lang="en-GB" dirty="0"/>
              <a:t>Grad‑CAM heatmaps from EfficientNet‑B3, InceptionV3, and their ensemble show that the hybrid model concentrates on the lesion itself, matching clinically relevant regions.</a:t>
            </a:r>
            <a:endParaRPr lang="en-UM" dirty="0"/>
          </a:p>
          <a:p>
            <a:pPr algn="just"/>
            <a:endParaRPr lang="en-UM" dirty="0"/>
          </a:p>
          <a:p>
            <a:pPr marL="285750" indent="-285750" algn="just">
              <a:buFont typeface="Wingdings" panose="05000000000000000000" pitchFamily="2" charset="2"/>
              <a:buChar char="Ø"/>
            </a:pPr>
            <a:r>
              <a:rPr lang="en-GB" dirty="0"/>
              <a:t>Saliency and </a:t>
            </a:r>
            <a:r>
              <a:rPr lang="en-GB" dirty="0" err="1"/>
              <a:t>SmoothGrad</a:t>
            </a:r>
            <a:r>
              <a:rPr lang="en-GB" dirty="0"/>
              <a:t> highlight the pixels most responsible for the model’s decision on a class‑4 lesion, with </a:t>
            </a:r>
            <a:r>
              <a:rPr lang="en-GB" dirty="0" err="1"/>
              <a:t>SmoothGrad</a:t>
            </a:r>
            <a:r>
              <a:rPr lang="en-GB" dirty="0"/>
              <a:t> giving a cleaner focus on the lesion area.</a:t>
            </a:r>
            <a:endParaRPr lang="en-US" dirty="0"/>
          </a:p>
        </p:txBody>
      </p:sp>
      <p:pic>
        <p:nvPicPr>
          <p:cNvPr id="3" name="Picture 2">
            <a:extLst>
              <a:ext uri="{FF2B5EF4-FFF2-40B4-BE49-F238E27FC236}">
                <a16:creationId xmlns:a16="http://schemas.microsoft.com/office/drawing/2014/main" id="{3C89B4A7-AAD6-ED65-6AE2-598D8D3FE0A6}"/>
              </a:ext>
            </a:extLst>
          </p:cNvPr>
          <p:cNvPicPr>
            <a:picLocks noChangeAspect="1"/>
          </p:cNvPicPr>
          <p:nvPr/>
        </p:nvPicPr>
        <p:blipFill>
          <a:blip r:embed="rId2"/>
          <a:stretch>
            <a:fillRect/>
          </a:stretch>
        </p:blipFill>
        <p:spPr>
          <a:xfrm>
            <a:off x="5791200" y="1389086"/>
            <a:ext cx="6041660" cy="1621677"/>
          </a:xfrm>
          <a:prstGeom prst="rect">
            <a:avLst/>
          </a:prstGeom>
        </p:spPr>
      </p:pic>
      <p:pic>
        <p:nvPicPr>
          <p:cNvPr id="7" name="Picture 6">
            <a:extLst>
              <a:ext uri="{FF2B5EF4-FFF2-40B4-BE49-F238E27FC236}">
                <a16:creationId xmlns:a16="http://schemas.microsoft.com/office/drawing/2014/main" id="{158047A8-301F-FB37-1467-EC83ADD77A82}"/>
              </a:ext>
            </a:extLst>
          </p:cNvPr>
          <p:cNvPicPr>
            <a:picLocks noChangeAspect="1"/>
          </p:cNvPicPr>
          <p:nvPr/>
        </p:nvPicPr>
        <p:blipFill>
          <a:blip r:embed="rId3"/>
          <a:stretch>
            <a:fillRect/>
          </a:stretch>
        </p:blipFill>
        <p:spPr>
          <a:xfrm>
            <a:off x="5791200" y="3616664"/>
            <a:ext cx="6041660" cy="2133785"/>
          </a:xfrm>
          <a:prstGeom prst="rect">
            <a:avLst/>
          </a:prstGeom>
        </p:spPr>
      </p:pic>
      <p:sp>
        <p:nvSpPr>
          <p:cNvPr id="8" name="TextBox 7">
            <a:extLst>
              <a:ext uri="{FF2B5EF4-FFF2-40B4-BE49-F238E27FC236}">
                <a16:creationId xmlns:a16="http://schemas.microsoft.com/office/drawing/2014/main" id="{A7868C04-A0EA-91FE-4063-4BDF0AE89F1C}"/>
              </a:ext>
            </a:extLst>
          </p:cNvPr>
          <p:cNvSpPr txBox="1"/>
          <p:nvPr/>
        </p:nvSpPr>
        <p:spPr>
          <a:xfrm>
            <a:off x="6678891" y="5903116"/>
            <a:ext cx="4501542" cy="276999"/>
          </a:xfrm>
          <a:prstGeom prst="rect">
            <a:avLst/>
          </a:prstGeom>
          <a:noFill/>
        </p:spPr>
        <p:txBody>
          <a:bodyPr wrap="square" rtlCol="0">
            <a:spAutoFit/>
          </a:bodyPr>
          <a:lstStyle/>
          <a:p>
            <a:r>
              <a:rPr lang="en-UM" sz="1200" dirty="0">
                <a:latin typeface="Times New Roman" panose="02020603050405020304" pitchFamily="18" charset="0"/>
                <a:cs typeface="Times New Roman" panose="02020603050405020304" pitchFamily="18" charset="0"/>
              </a:rPr>
              <a:t>Fig. 10:</a:t>
            </a:r>
            <a:r>
              <a:rPr lang="en-US" sz="1200" dirty="0">
                <a:latin typeface="Times New Roman" panose="02020603050405020304" pitchFamily="18" charset="0"/>
                <a:cs typeface="Times New Roman" panose="02020603050405020304" pitchFamily="18" charset="0"/>
              </a:rPr>
              <a:t>Saliency and </a:t>
            </a:r>
            <a:r>
              <a:rPr lang="en-US" sz="1200" dirty="0" err="1">
                <a:latin typeface="Times New Roman" panose="02020603050405020304" pitchFamily="18" charset="0"/>
                <a:cs typeface="Times New Roman" panose="02020603050405020304" pitchFamily="18" charset="0"/>
              </a:rPr>
              <a:t>SmoothGrad</a:t>
            </a:r>
            <a:r>
              <a:rPr lang="en-US" sz="1200" dirty="0">
                <a:latin typeface="Times New Roman" panose="02020603050405020304" pitchFamily="18" charset="0"/>
                <a:cs typeface="Times New Roman" panose="02020603050405020304" pitchFamily="18" charset="0"/>
              </a:rPr>
              <a:t> maps for class-4 skin lesion</a:t>
            </a:r>
          </a:p>
        </p:txBody>
      </p:sp>
    </p:spTree>
    <p:extLst>
      <p:ext uri="{BB962C8B-B14F-4D97-AF65-F5344CB8AC3E}">
        <p14:creationId xmlns:p14="http://schemas.microsoft.com/office/powerpoint/2010/main" val="1429123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E6236-9B80-E3B5-5EE5-D4594903D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D2BF8-88C8-E56B-2FC3-5014B861AAEF}"/>
              </a:ext>
            </a:extLst>
          </p:cNvPr>
          <p:cNvSpPr>
            <a:spLocks noGrp="1"/>
          </p:cNvSpPr>
          <p:nvPr>
            <p:ph type="title"/>
          </p:nvPr>
        </p:nvSpPr>
        <p:spPr>
          <a:xfrm>
            <a:off x="1698320" y="253633"/>
            <a:ext cx="8795360" cy="868362"/>
          </a:xfrm>
        </p:spPr>
        <p:txBody>
          <a:bodyPr>
            <a:normAutofit/>
          </a:bodyPr>
          <a:lstStyle/>
          <a:p>
            <a:r>
              <a:rPr lang="en-UM" dirty="0">
                <a:solidFill>
                  <a:srgbClr val="7030A0"/>
                </a:solidFill>
                <a:latin typeface="Times New Roman" pitchFamily="18" charset="0"/>
                <a:cs typeface="Times New Roman" pitchFamily="18" charset="0"/>
              </a:rPr>
              <a:t>Result and </a:t>
            </a:r>
            <a:r>
              <a:rPr lang="en-US" dirty="0">
                <a:solidFill>
                  <a:srgbClr val="7030A0"/>
                </a:solidFill>
                <a:latin typeface="Times New Roman" pitchFamily="18" charset="0"/>
                <a:cs typeface="Times New Roman" pitchFamily="18" charset="0"/>
              </a:rPr>
              <a:t>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FF1D77DD-5F63-AD0E-148D-14BC84C8B535}"/>
              </a:ext>
            </a:extLst>
          </p:cNvPr>
          <p:cNvSpPr>
            <a:spLocks noGrp="1"/>
          </p:cNvSpPr>
          <p:nvPr>
            <p:ph type="sldNum" sz="quarter" idx="16"/>
          </p:nvPr>
        </p:nvSpPr>
        <p:spPr/>
        <p:txBody>
          <a:bodyPr/>
          <a:lstStyle/>
          <a:p>
            <a:pPr>
              <a:defRPr/>
            </a:pPr>
            <a:fld id="{4CD333A3-7515-47B8-9EDC-EE0892D9C861}" type="slidenum">
              <a:rPr lang="en-US" smtClean="0"/>
              <a:pPr>
                <a:defRPr/>
              </a:pPr>
              <a:t>18</a:t>
            </a:fld>
            <a:endParaRPr lang="en-US" dirty="0"/>
          </a:p>
        </p:txBody>
      </p:sp>
      <p:sp>
        <p:nvSpPr>
          <p:cNvPr id="10" name="TextBox 9">
            <a:extLst>
              <a:ext uri="{FF2B5EF4-FFF2-40B4-BE49-F238E27FC236}">
                <a16:creationId xmlns:a16="http://schemas.microsoft.com/office/drawing/2014/main" id="{058221A4-46B4-F128-3738-F19E7EBB69AD}"/>
              </a:ext>
            </a:extLst>
          </p:cNvPr>
          <p:cNvSpPr txBox="1"/>
          <p:nvPr/>
        </p:nvSpPr>
        <p:spPr>
          <a:xfrm>
            <a:off x="2209800" y="5726880"/>
            <a:ext cx="4501542" cy="276999"/>
          </a:xfrm>
          <a:prstGeom prst="rect">
            <a:avLst/>
          </a:prstGeom>
          <a:noFill/>
        </p:spPr>
        <p:txBody>
          <a:bodyPr wrap="square" rtlCol="0">
            <a:spAutoFit/>
          </a:bodyPr>
          <a:lstStyle/>
          <a:p>
            <a:r>
              <a:rPr lang="en-UM" sz="1200" dirty="0">
                <a:latin typeface="Times New Roman" panose="02020603050405020304" pitchFamily="18" charset="0"/>
                <a:cs typeface="Times New Roman" panose="02020603050405020304" pitchFamily="18" charset="0"/>
              </a:rPr>
              <a:t>Fig. 11: </a:t>
            </a:r>
            <a:r>
              <a:rPr lang="en-US" sz="1200" dirty="0">
                <a:latin typeface="Times New Roman" panose="02020603050405020304" pitchFamily="18" charset="0"/>
                <a:cs typeface="Times New Roman" panose="02020603050405020304" pitchFamily="18" charset="0"/>
              </a:rPr>
              <a:t>User Dashboard of Skin Lesion Classifier</a:t>
            </a:r>
          </a:p>
        </p:txBody>
      </p:sp>
      <p:sp>
        <p:nvSpPr>
          <p:cNvPr id="8" name="TextBox 7">
            <a:extLst>
              <a:ext uri="{FF2B5EF4-FFF2-40B4-BE49-F238E27FC236}">
                <a16:creationId xmlns:a16="http://schemas.microsoft.com/office/drawing/2014/main" id="{77B46B9B-B925-A7B6-9509-6F5393FA4D79}"/>
              </a:ext>
            </a:extLst>
          </p:cNvPr>
          <p:cNvSpPr txBox="1"/>
          <p:nvPr/>
        </p:nvSpPr>
        <p:spPr>
          <a:xfrm>
            <a:off x="7848600" y="5680016"/>
            <a:ext cx="4267200" cy="461665"/>
          </a:xfrm>
          <a:prstGeom prst="rect">
            <a:avLst/>
          </a:prstGeom>
          <a:noFill/>
        </p:spPr>
        <p:txBody>
          <a:bodyPr wrap="square" rtlCol="0">
            <a:spAutoFit/>
          </a:bodyPr>
          <a:lstStyle/>
          <a:p>
            <a:r>
              <a:rPr lang="en-UM" sz="1200" dirty="0">
                <a:latin typeface="Times New Roman" panose="02020603050405020304" pitchFamily="18" charset="0"/>
                <a:cs typeface="Times New Roman" panose="02020603050405020304" pitchFamily="18" charset="0"/>
              </a:rPr>
              <a:t>Fig. 12: </a:t>
            </a:r>
            <a:r>
              <a:rPr lang="en-US" sz="1200" dirty="0">
                <a:latin typeface="Times New Roman" panose="02020603050405020304" pitchFamily="18" charset="0"/>
                <a:cs typeface="Times New Roman" panose="02020603050405020304" pitchFamily="18" charset="0"/>
              </a:rPr>
              <a:t>Activity diagram of the skin‑lesion classifier inference workflow</a:t>
            </a:r>
          </a:p>
        </p:txBody>
      </p:sp>
      <p:pic>
        <p:nvPicPr>
          <p:cNvPr id="9" name="Picture 8">
            <a:extLst>
              <a:ext uri="{FF2B5EF4-FFF2-40B4-BE49-F238E27FC236}">
                <a16:creationId xmlns:a16="http://schemas.microsoft.com/office/drawing/2014/main" id="{434C8587-833A-9FBD-7931-61915A19FF3E}"/>
              </a:ext>
            </a:extLst>
          </p:cNvPr>
          <p:cNvPicPr>
            <a:picLocks noChangeAspect="1"/>
          </p:cNvPicPr>
          <p:nvPr/>
        </p:nvPicPr>
        <p:blipFill>
          <a:blip r:embed="rId2" cstate="print">
            <a:extLst>
              <a:ext uri="{28A0092B-C50C-407E-A947-70E740481C1C}">
                <a14:useLocalDpi xmlns:a14="http://schemas.microsoft.com/office/drawing/2010/main" val="0"/>
              </a:ext>
            </a:extLst>
          </a:blip>
          <a:srcRect l="6760" r="7294"/>
          <a:stretch>
            <a:fillRect/>
          </a:stretch>
        </p:blipFill>
        <p:spPr>
          <a:xfrm>
            <a:off x="805206" y="1676400"/>
            <a:ext cx="6781800" cy="3685128"/>
          </a:xfrm>
          <a:prstGeom prst="rect">
            <a:avLst/>
          </a:prstGeom>
        </p:spPr>
      </p:pic>
      <p:pic>
        <p:nvPicPr>
          <p:cNvPr id="12" name="Picture 11">
            <a:extLst>
              <a:ext uri="{FF2B5EF4-FFF2-40B4-BE49-F238E27FC236}">
                <a16:creationId xmlns:a16="http://schemas.microsoft.com/office/drawing/2014/main" id="{13ADF696-A9DE-11D4-EB27-C3076E3624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4400" y="947151"/>
            <a:ext cx="2389865" cy="4779729"/>
          </a:xfrm>
          <a:prstGeom prst="rect">
            <a:avLst/>
          </a:prstGeom>
        </p:spPr>
      </p:pic>
    </p:spTree>
    <p:extLst>
      <p:ext uri="{BB962C8B-B14F-4D97-AF65-F5344CB8AC3E}">
        <p14:creationId xmlns:p14="http://schemas.microsoft.com/office/powerpoint/2010/main" val="366043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3" name="Content Placeholder 2">
            <a:extLst>
              <a:ext uri="{FF2B5EF4-FFF2-40B4-BE49-F238E27FC236}">
                <a16:creationId xmlns:a16="http://schemas.microsoft.com/office/drawing/2014/main" id="{DE257007-BE43-8114-9B32-F2E48E856E19}"/>
              </a:ext>
            </a:extLst>
          </p:cNvPr>
          <p:cNvSpPr>
            <a:spLocks noGrp="1"/>
          </p:cNvSpPr>
          <p:nvPr>
            <p:ph sz="quarter" idx="13"/>
          </p:nvPr>
        </p:nvSpPr>
        <p:spPr/>
        <p:txBody>
          <a:bodyPr>
            <a:normAutofit fontScale="55000" lnSpcReduction="20000"/>
          </a:bodyPr>
          <a:lstStyle/>
          <a:p>
            <a:pPr>
              <a:lnSpc>
                <a:spcPts val="2430"/>
              </a:lnSpc>
              <a:buSzPct val="100000"/>
            </a:pPr>
            <a:r>
              <a:rPr lang="en-US" b="1" dirty="0">
                <a:solidFill>
                  <a:schemeClr val="tx1"/>
                </a:solidFill>
                <a:latin typeface="Times New Roman" panose="02020603050405020304" pitchFamily="18" charset="0"/>
                <a:ea typeface="Arial" pitchFamily="34" charset="-122"/>
                <a:cs typeface="Times New Roman" panose="02020603050405020304" pitchFamily="18" charset="0"/>
              </a:rPr>
              <a:t>Dual-Backbone Ensemble in Federated Setting:</a:t>
            </a:r>
            <a:r>
              <a:rPr lang="en-US" dirty="0">
                <a:solidFill>
                  <a:schemeClr val="tx1"/>
                </a:solidFill>
                <a:latin typeface="Times New Roman" panose="02020603050405020304" pitchFamily="18" charset="0"/>
                <a:ea typeface="Arial" pitchFamily="34" charset="-122"/>
                <a:cs typeface="Times New Roman" panose="02020603050405020304" pitchFamily="18" charset="0"/>
              </a:rPr>
              <a:t> First hybrid EfficientNetB3-InceptionV3 ensemble under federated learning for dermatology</a:t>
            </a:r>
            <a:endParaRPr lang="en-US"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pPr>
            <a:r>
              <a:rPr lang="en-US" b="1" dirty="0">
                <a:solidFill>
                  <a:schemeClr val="tx1"/>
                </a:solidFill>
                <a:latin typeface="Times New Roman" panose="02020603050405020304" pitchFamily="18" charset="0"/>
                <a:ea typeface="Arial" pitchFamily="34" charset="-122"/>
                <a:cs typeface="Times New Roman" panose="02020603050405020304" pitchFamily="18" charset="0"/>
              </a:rPr>
              <a:t>Attention-Based Feature Fusion:</a:t>
            </a:r>
            <a:r>
              <a:rPr lang="en-US" dirty="0">
                <a:solidFill>
                  <a:schemeClr val="tx1"/>
                </a:solidFill>
                <a:latin typeface="Times New Roman" panose="02020603050405020304" pitchFamily="18" charset="0"/>
                <a:ea typeface="Arial" pitchFamily="34" charset="-122"/>
                <a:cs typeface="Times New Roman" panose="02020603050405020304" pitchFamily="18" charset="0"/>
              </a:rPr>
              <a:t> Sample-specific weighted fusion improves robustness vs. simple concatenation</a:t>
            </a:r>
            <a:endParaRPr lang="en-US"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pPr>
            <a:r>
              <a:rPr lang="en-US" b="1" dirty="0">
                <a:solidFill>
                  <a:schemeClr val="tx1"/>
                </a:solidFill>
                <a:latin typeface="Times New Roman" panose="02020603050405020304" pitchFamily="18" charset="0"/>
                <a:ea typeface="Arial" pitchFamily="34" charset="-122"/>
                <a:cs typeface="Times New Roman" panose="02020603050405020304" pitchFamily="18" charset="0"/>
              </a:rPr>
              <a:t>Non-IID Class Imbalance Handling:</a:t>
            </a:r>
            <a:r>
              <a:rPr lang="en-US" dirty="0">
                <a:solidFill>
                  <a:schemeClr val="tx1"/>
                </a:solidFill>
                <a:latin typeface="Times New Roman" panose="02020603050405020304" pitchFamily="18" charset="0"/>
                <a:ea typeface="Arial" pitchFamily="34" charset="-122"/>
                <a:cs typeface="Times New Roman" panose="02020603050405020304" pitchFamily="18" charset="0"/>
              </a:rPr>
              <a:t> </a:t>
            </a:r>
            <a:r>
              <a:rPr lang="en-US" dirty="0" err="1">
                <a:solidFill>
                  <a:schemeClr val="tx1"/>
                </a:solidFill>
                <a:latin typeface="Times New Roman" panose="02020603050405020304" pitchFamily="18" charset="0"/>
                <a:ea typeface="Arial" pitchFamily="34" charset="-122"/>
                <a:cs typeface="Times New Roman" panose="02020603050405020304" pitchFamily="18" charset="0"/>
              </a:rPr>
              <a:t>RandomOverSampler</a:t>
            </a:r>
            <a:r>
              <a:rPr lang="en-US" dirty="0">
                <a:solidFill>
                  <a:schemeClr val="tx1"/>
                </a:solidFill>
                <a:latin typeface="Times New Roman" panose="02020603050405020304" pitchFamily="18" charset="0"/>
                <a:ea typeface="Arial" pitchFamily="34" charset="-122"/>
                <a:cs typeface="Times New Roman" panose="02020603050405020304" pitchFamily="18" charset="0"/>
              </a:rPr>
              <a:t> + Dirichlet partitioning + </a:t>
            </a:r>
            <a:r>
              <a:rPr lang="en-US" dirty="0" err="1">
                <a:solidFill>
                  <a:schemeClr val="tx1"/>
                </a:solidFill>
                <a:latin typeface="Times New Roman" panose="02020603050405020304" pitchFamily="18" charset="0"/>
                <a:ea typeface="Arial" pitchFamily="34" charset="-122"/>
                <a:cs typeface="Times New Roman" panose="02020603050405020304" pitchFamily="18" charset="0"/>
              </a:rPr>
              <a:t>FedAvg</a:t>
            </a:r>
            <a:r>
              <a:rPr lang="en-US" dirty="0">
                <a:solidFill>
                  <a:schemeClr val="tx1"/>
                </a:solidFill>
                <a:latin typeface="Times New Roman" panose="02020603050405020304" pitchFamily="18" charset="0"/>
                <a:ea typeface="Arial" pitchFamily="34" charset="-122"/>
                <a:cs typeface="Times New Roman" panose="02020603050405020304" pitchFamily="18" charset="0"/>
              </a:rPr>
              <a:t> addresses both challenges simultaneously</a:t>
            </a:r>
            <a:endParaRPr lang="en-US"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pPr>
            <a:r>
              <a:rPr lang="en-US" b="1" dirty="0">
                <a:solidFill>
                  <a:schemeClr val="tx1"/>
                </a:solidFill>
                <a:latin typeface="Times New Roman" panose="02020603050405020304" pitchFamily="18" charset="0"/>
                <a:ea typeface="Arial" pitchFamily="34" charset="-122"/>
                <a:cs typeface="Times New Roman" panose="02020603050405020304" pitchFamily="18" charset="0"/>
              </a:rPr>
              <a:t>Comprehensive Multi-Class Benchmark:</a:t>
            </a:r>
            <a:r>
              <a:rPr lang="en-US" dirty="0">
                <a:solidFill>
                  <a:schemeClr val="tx1"/>
                </a:solidFill>
                <a:latin typeface="Times New Roman" panose="02020603050405020304" pitchFamily="18" charset="0"/>
                <a:ea typeface="Arial" pitchFamily="34" charset="-122"/>
                <a:cs typeface="Times New Roman" panose="02020603050405020304" pitchFamily="18" charset="0"/>
              </a:rPr>
              <a:t> 11 baseline comparisons (CNNs, Transformers, Graph-Based) on 7-class HAM10000</a:t>
            </a:r>
            <a:endParaRPr lang="en-US"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pPr>
            <a:r>
              <a:rPr lang="en-US" b="1" dirty="0">
                <a:solidFill>
                  <a:schemeClr val="tx1"/>
                </a:solidFill>
                <a:latin typeface="Times New Roman" panose="02020603050405020304" pitchFamily="18" charset="0"/>
                <a:ea typeface="Arial" pitchFamily="34" charset="-122"/>
                <a:cs typeface="Times New Roman" panose="02020603050405020304" pitchFamily="18" charset="0"/>
              </a:rPr>
              <a:t>Explainability in Federated Dermatology:</a:t>
            </a:r>
            <a:r>
              <a:rPr lang="en-US" dirty="0">
                <a:solidFill>
                  <a:schemeClr val="tx1"/>
                </a:solidFill>
                <a:latin typeface="Times New Roman" panose="02020603050405020304" pitchFamily="18" charset="0"/>
                <a:ea typeface="Arial" pitchFamily="34" charset="-122"/>
                <a:cs typeface="Times New Roman" panose="02020603050405020304" pitchFamily="18" charset="0"/>
              </a:rPr>
              <a:t> Grad-CAM + Saliency maps for clinician-facing decision support</a:t>
            </a:r>
            <a:endParaRPr lang="en-US" dirty="0">
              <a:solidFill>
                <a:schemeClr val="tx1"/>
              </a:solidFill>
              <a:latin typeface="Times New Roman" panose="02020603050405020304" pitchFamily="18" charset="0"/>
              <a:cs typeface="Times New Roman" panose="02020603050405020304" pitchFamily="18" charset="0"/>
            </a:endParaRPr>
          </a:p>
          <a:p>
            <a:pPr>
              <a:lnSpc>
                <a:spcPts val="2430"/>
              </a:lnSpc>
              <a:buSzPct val="100000"/>
            </a:pPr>
            <a:r>
              <a:rPr lang="en-US" b="1" dirty="0">
                <a:solidFill>
                  <a:schemeClr val="tx1"/>
                </a:solidFill>
                <a:latin typeface="Times New Roman" panose="02020603050405020304" pitchFamily="18" charset="0"/>
                <a:ea typeface="Arial" pitchFamily="34" charset="-122"/>
                <a:cs typeface="Times New Roman" panose="02020603050405020304" pitchFamily="18" charset="0"/>
              </a:rPr>
              <a:t>Practical Multi-Institutional Deployment:</a:t>
            </a:r>
            <a:r>
              <a:rPr lang="en-US" dirty="0">
                <a:solidFill>
                  <a:schemeClr val="tx1"/>
                </a:solidFill>
                <a:latin typeface="Times New Roman" panose="02020603050405020304" pitchFamily="18" charset="0"/>
                <a:ea typeface="Arial" pitchFamily="34" charset="-122"/>
                <a:cs typeface="Times New Roman" panose="02020603050405020304" pitchFamily="18" charset="0"/>
              </a:rPr>
              <a:t> Demonstrates privacy-preserving collaboration with minimal accuracy gap (0.62%)</a:t>
            </a:r>
            <a:endParaRPr lang="en-US"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p:txBody>
          <a:bodyPr/>
          <a:lstStyle/>
          <a:p>
            <a:pPr>
              <a:defRPr/>
            </a:pPr>
            <a:fld id="{4CD333A3-7515-47B8-9EDC-EE0892D9C861}" type="slidenum">
              <a:rPr lang="en-US" smtClean="0"/>
              <a:pPr>
                <a:defRPr/>
              </a:pPr>
              <a:t>19</a:t>
            </a:fld>
            <a:endParaRPr lang="en-US" dirty="0"/>
          </a:p>
        </p:txBody>
      </p:sp>
    </p:spTree>
    <p:extLst>
      <p:ext uri="{BB962C8B-B14F-4D97-AF65-F5344CB8AC3E}">
        <p14:creationId xmlns:p14="http://schemas.microsoft.com/office/powerpoint/2010/main" val="920274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3" name="Content Placeholder 2"/>
          <p:cNvSpPr>
            <a:spLocks noGrp="1"/>
          </p:cNvSpPr>
          <p:nvPr>
            <p:ph sz="quarter" idx="13"/>
          </p:nvPr>
        </p:nvSpPr>
        <p:spPr>
          <a:xfrm>
            <a:off x="533400" y="2171700"/>
            <a:ext cx="11049000" cy="2514600"/>
          </a:xfrm>
        </p:spPr>
        <p:txBody>
          <a:bodyPr>
            <a:normAutofit/>
          </a:bodyPr>
          <a:lstStyle/>
          <a:p>
            <a:pPr marL="0" indent="0" algn="just">
              <a:buNone/>
            </a:pPr>
            <a:r>
              <a:rPr lang="en-GB" sz="2400" dirty="0">
                <a:solidFill>
                  <a:schemeClr val="tx1"/>
                </a:solidFill>
                <a:latin typeface="Times New Roman" panose="02020603050405020304" pitchFamily="18" charset="0"/>
                <a:cs typeface="Times New Roman" panose="02020603050405020304" pitchFamily="18" charset="0"/>
              </a:rPr>
              <a:t>Our federated hybrid EfficientNetB3–InceptionV3 model achieves over 93% accuracy on seven skin‑lesion classes while keeping all images at their own hospitals, showing that privacy‑preserving collaboration is both effective and practical.​</a:t>
            </a:r>
            <a:r>
              <a:rPr lang="en-UM" sz="2400" dirty="0">
                <a:solidFill>
                  <a:schemeClr val="tx1"/>
                </a:solidFill>
                <a:latin typeface="Times New Roman" panose="02020603050405020304" pitchFamily="18" charset="0"/>
                <a:cs typeface="Times New Roman" panose="02020603050405020304" pitchFamily="18" charset="0"/>
              </a:rPr>
              <a:t> </a:t>
            </a:r>
            <a:r>
              <a:rPr lang="en-GB" sz="2400" dirty="0">
                <a:solidFill>
                  <a:schemeClr val="tx1"/>
                </a:solidFill>
                <a:latin typeface="Times New Roman" panose="02020603050405020304" pitchFamily="18" charset="0"/>
                <a:cs typeface="Times New Roman" panose="02020603050405020304" pitchFamily="18" charset="0"/>
              </a:rPr>
              <a:t>By handling class imbalance and providing Grad‑CAM and saliency visualizations, the system offers reliable predictions and clear visual explanations that can support dermatologists in real clinical use and can be extended in future work to larger, multi‑</a:t>
            </a:r>
            <a:r>
              <a:rPr lang="en-GB" sz="2400" dirty="0" err="1">
                <a:solidFill>
                  <a:schemeClr val="tx1"/>
                </a:solidFill>
                <a:latin typeface="Times New Roman" panose="02020603050405020304" pitchFamily="18" charset="0"/>
                <a:cs typeface="Times New Roman" panose="02020603050405020304" pitchFamily="18" charset="0"/>
              </a:rPr>
              <a:t>center</a:t>
            </a:r>
            <a:r>
              <a:rPr lang="en-GB" sz="2400" dirty="0">
                <a:solidFill>
                  <a:schemeClr val="tx1"/>
                </a:solidFill>
                <a:latin typeface="Times New Roman" panose="02020603050405020304" pitchFamily="18" charset="0"/>
                <a:cs typeface="Times New Roman" panose="02020603050405020304" pitchFamily="18" charset="0"/>
              </a:rPr>
              <a:t> deployments.</a:t>
            </a:r>
            <a:endParaRPr lang="en-US" sz="2400" dirty="0">
              <a:solidFill>
                <a:schemeClr val="tx1"/>
              </a:solidFill>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20</a:t>
            </a:fld>
            <a:endParaRPr lang="en-US" dirty="0"/>
          </a:p>
        </p:txBody>
      </p:sp>
    </p:spTree>
    <p:extLst>
      <p:ext uri="{BB962C8B-B14F-4D97-AF65-F5344CB8AC3E}">
        <p14:creationId xmlns:p14="http://schemas.microsoft.com/office/powerpoint/2010/main" val="2873705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3" name="Content Placeholder 2">
            <a:extLst>
              <a:ext uri="{FF2B5EF4-FFF2-40B4-BE49-F238E27FC236}">
                <a16:creationId xmlns:a16="http://schemas.microsoft.com/office/drawing/2014/main" id="{7540A3B3-C4C8-D937-C000-D8A95AA34084}"/>
              </a:ext>
            </a:extLst>
          </p:cNvPr>
          <p:cNvSpPr>
            <a:spLocks noGrp="1"/>
          </p:cNvSpPr>
          <p:nvPr>
            <p:ph sz="quarter" idx="13"/>
          </p:nvPr>
        </p:nvSpPr>
        <p:spPr>
          <a:xfrm>
            <a:off x="533400" y="1676400"/>
            <a:ext cx="11049000" cy="3962400"/>
          </a:xfrm>
        </p:spPr>
        <p:txBody>
          <a:bodyPr>
            <a:normAutofit fontScale="55000" lnSpcReduction="20000"/>
          </a:bodyPr>
          <a:lstStyle/>
          <a:p>
            <a:pPr lvl="0" algn="just"/>
            <a:r>
              <a:rPr lang="en-UM" dirty="0">
                <a:solidFill>
                  <a:schemeClr val="tx1"/>
                </a:solidFill>
              </a:rPr>
              <a:t>[1] </a:t>
            </a:r>
            <a:r>
              <a:rPr lang="en-US" dirty="0">
                <a:solidFill>
                  <a:schemeClr val="tx1"/>
                </a:solidFill>
              </a:rPr>
              <a:t>Muhammad Mateen Yaqoob, Musleh Alsulami, Muhammad Amir Khan, </a:t>
            </a:r>
            <a:r>
              <a:rPr lang="en-US" dirty="0" err="1">
                <a:solidFill>
                  <a:schemeClr val="tx1"/>
                </a:solidFill>
              </a:rPr>
              <a:t>Deafallah</a:t>
            </a:r>
            <a:r>
              <a:rPr lang="en-US" dirty="0">
                <a:solidFill>
                  <a:schemeClr val="tx1"/>
                </a:solidFill>
              </a:rPr>
              <a:t> </a:t>
            </a:r>
            <a:r>
              <a:rPr lang="en-US" dirty="0" err="1">
                <a:solidFill>
                  <a:schemeClr val="tx1"/>
                </a:solidFill>
              </a:rPr>
              <a:t>Alsadie</a:t>
            </a:r>
            <a:r>
              <a:rPr lang="en-US" dirty="0">
                <a:solidFill>
                  <a:schemeClr val="tx1"/>
                </a:solidFill>
              </a:rPr>
              <a:t>, A. Khader, and M. </a:t>
            </a:r>
            <a:r>
              <a:rPr lang="en-US" dirty="0" err="1">
                <a:solidFill>
                  <a:schemeClr val="tx1"/>
                </a:solidFill>
              </a:rPr>
              <a:t>Alkhathami</a:t>
            </a:r>
            <a:r>
              <a:rPr lang="en-US" dirty="0">
                <a:solidFill>
                  <a:schemeClr val="tx1"/>
                </a:solidFill>
              </a:rPr>
              <a:t>, “Federated Machine Learning for Skin Lesion Diagnosis: An Asynchronous and Weighted Approach,” </a:t>
            </a:r>
            <a:r>
              <a:rPr lang="en-US" i="1" dirty="0">
                <a:solidFill>
                  <a:schemeClr val="tx1"/>
                </a:solidFill>
              </a:rPr>
              <a:t>Diagnostics</a:t>
            </a:r>
            <a:r>
              <a:rPr lang="en-US" dirty="0">
                <a:solidFill>
                  <a:schemeClr val="tx1"/>
                </a:solidFill>
              </a:rPr>
              <a:t>, vol. 13, no. 11, pp. 1964–1964, Jun. 2023, </a:t>
            </a:r>
            <a:r>
              <a:rPr lang="en-US" dirty="0" err="1">
                <a:solidFill>
                  <a:schemeClr val="tx1"/>
                </a:solidFill>
              </a:rPr>
              <a:t>doi</a:t>
            </a:r>
            <a:r>
              <a:rPr lang="en-US" dirty="0">
                <a:solidFill>
                  <a:schemeClr val="tx1"/>
                </a:solidFill>
              </a:rPr>
              <a:t>: </a:t>
            </a:r>
            <a:r>
              <a:rPr lang="en-US" u="sng" dirty="0">
                <a:solidFill>
                  <a:schemeClr val="tx1"/>
                </a:solidFill>
                <a:hlinkClick r:id="rId2">
                  <a:extLst>
                    <a:ext uri="{A12FA001-AC4F-418D-AE19-62706E023703}">
                      <ahyp:hlinkClr xmlns:ahyp="http://schemas.microsoft.com/office/drawing/2018/hyperlinkcolor" val="tx"/>
                    </a:ext>
                  </a:extLst>
                </a:hlinkClick>
              </a:rPr>
              <a:t>https://doi.org/10.3390/diagnostics13111964</a:t>
            </a:r>
            <a:r>
              <a:rPr lang="en-US" dirty="0">
                <a:solidFill>
                  <a:schemeClr val="tx1"/>
                </a:solidFill>
              </a:rPr>
              <a:t>.</a:t>
            </a:r>
          </a:p>
          <a:p>
            <a:pPr lvl="0" algn="just"/>
            <a:r>
              <a:rPr lang="en-UM" dirty="0">
                <a:solidFill>
                  <a:schemeClr val="tx1"/>
                </a:solidFill>
              </a:rPr>
              <a:t>[2] </a:t>
            </a:r>
            <a:r>
              <a:rPr lang="en-US" dirty="0">
                <a:solidFill>
                  <a:schemeClr val="tx1"/>
                </a:solidFill>
              </a:rPr>
              <a:t>R. Hendrix, S. F. Proietto, C. Spampinato, S. Palazzo, and U. Bagci, “Evidential Federated Learning for Skin Lesion Image Classification,” </a:t>
            </a:r>
            <a:r>
              <a:rPr lang="en-US" i="1" dirty="0" err="1">
                <a:solidFill>
                  <a:schemeClr val="tx1"/>
                </a:solidFill>
              </a:rPr>
              <a:t>arXiv</a:t>
            </a:r>
            <a:r>
              <a:rPr lang="en-US" i="1" dirty="0">
                <a:solidFill>
                  <a:schemeClr val="tx1"/>
                </a:solidFill>
              </a:rPr>
              <a:t> (Cornell University)</a:t>
            </a:r>
            <a:r>
              <a:rPr lang="en-US" dirty="0">
                <a:solidFill>
                  <a:schemeClr val="tx1"/>
                </a:solidFill>
              </a:rPr>
              <a:t>, Nov. 2024, </a:t>
            </a:r>
            <a:r>
              <a:rPr lang="en-US" dirty="0" err="1">
                <a:solidFill>
                  <a:schemeClr val="tx1"/>
                </a:solidFill>
              </a:rPr>
              <a:t>doi</a:t>
            </a:r>
            <a:r>
              <a:rPr lang="en-US" dirty="0">
                <a:solidFill>
                  <a:schemeClr val="tx1"/>
                </a:solidFill>
              </a:rPr>
              <a:t>: </a:t>
            </a:r>
            <a:r>
              <a:rPr lang="en-US" u="sng" dirty="0">
                <a:solidFill>
                  <a:schemeClr val="tx1"/>
                </a:solidFill>
                <a:hlinkClick r:id="rId3">
                  <a:extLst>
                    <a:ext uri="{A12FA001-AC4F-418D-AE19-62706E023703}">
                      <ahyp:hlinkClr xmlns:ahyp="http://schemas.microsoft.com/office/drawing/2018/hyperlinkcolor" val="tx"/>
                    </a:ext>
                  </a:extLst>
                </a:hlinkClick>
              </a:rPr>
              <a:t>https://doi.org/10.48550/arxiv.2411.10071</a:t>
            </a:r>
            <a:r>
              <a:rPr lang="en-US" dirty="0">
                <a:solidFill>
                  <a:schemeClr val="tx1"/>
                </a:solidFill>
              </a:rPr>
              <a:t>.</a:t>
            </a:r>
          </a:p>
          <a:p>
            <a:pPr lvl="0" algn="just"/>
            <a:r>
              <a:rPr lang="en-UM" dirty="0">
                <a:solidFill>
                  <a:schemeClr val="tx1"/>
                </a:solidFill>
              </a:rPr>
              <a:t>[3] </a:t>
            </a:r>
            <a:r>
              <a:rPr lang="en-US" dirty="0">
                <a:solidFill>
                  <a:schemeClr val="tx1"/>
                </a:solidFill>
              </a:rPr>
              <a:t>Y. Tian, J. Wang, Y. Jin, and L. Wang, “Communication-Efficient Federated Skin Lesion Classification with Generalizable Dataset Distillation,” </a:t>
            </a:r>
            <a:r>
              <a:rPr lang="en-US" i="1" dirty="0">
                <a:solidFill>
                  <a:schemeClr val="tx1"/>
                </a:solidFill>
              </a:rPr>
              <a:t>Lecture notes in computer science</a:t>
            </a:r>
            <a:r>
              <a:rPr lang="en-US" dirty="0">
                <a:solidFill>
                  <a:schemeClr val="tx1"/>
                </a:solidFill>
              </a:rPr>
              <a:t>, pp. 14–24, Jan. 2023, </a:t>
            </a:r>
            <a:r>
              <a:rPr lang="en-US" dirty="0" err="1">
                <a:solidFill>
                  <a:schemeClr val="tx1"/>
                </a:solidFill>
              </a:rPr>
              <a:t>doi</a:t>
            </a:r>
            <a:r>
              <a:rPr lang="en-US" dirty="0">
                <a:solidFill>
                  <a:schemeClr val="tx1"/>
                </a:solidFill>
              </a:rPr>
              <a:t>: https://doi.org/10.1007/978-3-031-47401-9_2.</a:t>
            </a:r>
          </a:p>
          <a:p>
            <a:pPr lvl="0" algn="just"/>
            <a:r>
              <a:rPr lang="en-UM" dirty="0">
                <a:solidFill>
                  <a:schemeClr val="tx1"/>
                </a:solidFill>
              </a:rPr>
              <a:t>[4] </a:t>
            </a:r>
            <a:r>
              <a:rPr lang="en-US" dirty="0">
                <a:solidFill>
                  <a:schemeClr val="tx1"/>
                </a:solidFill>
              </a:rPr>
              <a:t>B. Shetty, R. Fernandes, A. P. Rodrigues, R. </a:t>
            </a:r>
            <a:r>
              <a:rPr lang="en-US" dirty="0" err="1">
                <a:solidFill>
                  <a:schemeClr val="tx1"/>
                </a:solidFill>
              </a:rPr>
              <a:t>Chengoden</a:t>
            </a:r>
            <a:r>
              <a:rPr lang="en-US" dirty="0">
                <a:solidFill>
                  <a:schemeClr val="tx1"/>
                </a:solidFill>
              </a:rPr>
              <a:t>, S. Bhattacharya, and K. Lakshmanna, “Skin lesion classification of </a:t>
            </a:r>
            <a:r>
              <a:rPr lang="en-US" dirty="0" err="1">
                <a:solidFill>
                  <a:schemeClr val="tx1"/>
                </a:solidFill>
              </a:rPr>
              <a:t>dermoscopic</a:t>
            </a:r>
            <a:r>
              <a:rPr lang="en-US" dirty="0">
                <a:solidFill>
                  <a:schemeClr val="tx1"/>
                </a:solidFill>
              </a:rPr>
              <a:t> images using machine learning and convolutional neural network,” </a:t>
            </a:r>
            <a:r>
              <a:rPr lang="en-US" i="1" dirty="0">
                <a:solidFill>
                  <a:schemeClr val="tx1"/>
                </a:solidFill>
              </a:rPr>
              <a:t>Scientific Reports</a:t>
            </a:r>
            <a:r>
              <a:rPr lang="en-US" dirty="0">
                <a:solidFill>
                  <a:schemeClr val="tx1"/>
                </a:solidFill>
              </a:rPr>
              <a:t>, vol. 12, no. 1, p. 18134, Oct. 2022, </a:t>
            </a:r>
            <a:r>
              <a:rPr lang="en-US" dirty="0" err="1">
                <a:solidFill>
                  <a:schemeClr val="tx1"/>
                </a:solidFill>
              </a:rPr>
              <a:t>doi</a:t>
            </a:r>
            <a:r>
              <a:rPr lang="en-US" dirty="0">
                <a:solidFill>
                  <a:schemeClr val="tx1"/>
                </a:solidFill>
              </a:rPr>
              <a:t>: </a:t>
            </a:r>
            <a:r>
              <a:rPr lang="en-US" u="sng" dirty="0">
                <a:solidFill>
                  <a:schemeClr val="tx1"/>
                </a:solidFill>
                <a:hlinkClick r:id="rId4">
                  <a:extLst>
                    <a:ext uri="{A12FA001-AC4F-418D-AE19-62706E023703}">
                      <ahyp:hlinkClr xmlns:ahyp="http://schemas.microsoft.com/office/drawing/2018/hyperlinkcolor" val="tx"/>
                    </a:ext>
                  </a:extLst>
                </a:hlinkClick>
              </a:rPr>
              <a:t>https://doi.org/10.1038/s41598-022-22644-9</a:t>
            </a:r>
            <a:r>
              <a:rPr lang="en-US" dirty="0">
                <a:solidFill>
                  <a:schemeClr val="tx1"/>
                </a:solidFill>
              </a:rPr>
              <a:t>.</a:t>
            </a:r>
          </a:p>
          <a:p>
            <a:pPr lvl="0" algn="just"/>
            <a:r>
              <a:rPr lang="en-UM" dirty="0">
                <a:solidFill>
                  <a:schemeClr val="tx1"/>
                </a:solidFill>
              </a:rPr>
              <a:t>[5] </a:t>
            </a:r>
            <a:r>
              <a:rPr lang="en-US" dirty="0">
                <a:solidFill>
                  <a:schemeClr val="tx1"/>
                </a:solidFill>
              </a:rPr>
              <a:t>Z. Deng, Y. Yang, and K. Suzuki, “Federated Active Learning Framework for Efficient Annotation Strategy in Skin-Lesion Classification,” </a:t>
            </a:r>
            <a:r>
              <a:rPr lang="en-US" i="1" dirty="0">
                <a:solidFill>
                  <a:schemeClr val="tx1"/>
                </a:solidFill>
              </a:rPr>
              <a:t>Journal of Investigative Dermatology</a:t>
            </a:r>
            <a:r>
              <a:rPr lang="en-US" dirty="0">
                <a:solidFill>
                  <a:schemeClr val="tx1"/>
                </a:solidFill>
              </a:rPr>
              <a:t>, Jun. 2024, </a:t>
            </a:r>
            <a:r>
              <a:rPr lang="en-US" dirty="0" err="1">
                <a:solidFill>
                  <a:schemeClr val="tx1"/>
                </a:solidFill>
              </a:rPr>
              <a:t>doi</a:t>
            </a:r>
            <a:r>
              <a:rPr lang="en-US" dirty="0">
                <a:solidFill>
                  <a:schemeClr val="tx1"/>
                </a:solidFill>
              </a:rPr>
              <a:t>: </a:t>
            </a:r>
            <a:r>
              <a:rPr lang="en-US" u="sng" dirty="0">
                <a:solidFill>
                  <a:schemeClr val="tx1"/>
                </a:solidFill>
                <a:hlinkClick r:id="rId5">
                  <a:extLst>
                    <a:ext uri="{A12FA001-AC4F-418D-AE19-62706E023703}">
                      <ahyp:hlinkClr xmlns:ahyp="http://schemas.microsoft.com/office/drawing/2018/hyperlinkcolor" val="tx"/>
                    </a:ext>
                  </a:extLst>
                </a:hlinkClick>
              </a:rPr>
              <a:t>https://doi.org/10.1016/j.jid.2024.05.023</a:t>
            </a:r>
            <a:r>
              <a:rPr lang="en-US" dirty="0">
                <a:solidFill>
                  <a:schemeClr val="tx1"/>
                </a:solidFill>
              </a:rPr>
              <a:t>.</a:t>
            </a:r>
          </a:p>
          <a:p>
            <a:pPr algn="just">
              <a:buFont typeface="Wingdings" panose="05000000000000000000" pitchFamily="2" charset="2"/>
              <a:buChar char="Ø"/>
            </a:pPr>
            <a:endParaRPr lang="en-US" sz="22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F97097F1-FADA-324C-E90E-73FFCAEF9034}"/>
              </a:ext>
            </a:extLst>
          </p:cNvPr>
          <p:cNvSpPr>
            <a:spLocks noGrp="1"/>
          </p:cNvSpPr>
          <p:nvPr>
            <p:ph type="sldNum" sz="quarter" idx="16"/>
          </p:nvPr>
        </p:nvSpPr>
        <p:spPr/>
        <p:txBody>
          <a:bodyPr/>
          <a:lstStyle/>
          <a:p>
            <a:pPr>
              <a:defRPr/>
            </a:pPr>
            <a:fld id="{4CD333A3-7515-47B8-9EDC-EE0892D9C861}" type="slidenum">
              <a:rPr lang="en-US" smtClean="0"/>
              <a:pPr>
                <a:defRPr/>
              </a:pPr>
              <a:t>21</a:t>
            </a:fld>
            <a:endParaRPr lang="en-US" dirty="0"/>
          </a:p>
        </p:txBody>
      </p:sp>
    </p:spTree>
    <p:extLst>
      <p:ext uri="{BB962C8B-B14F-4D97-AF65-F5344CB8AC3E}">
        <p14:creationId xmlns:p14="http://schemas.microsoft.com/office/powerpoint/2010/main" val="1905469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M" dirty="0">
                <a:solidFill>
                  <a:srgbClr val="7030A0"/>
                </a:solidFill>
              </a:rPr>
              <a:t>Any Questions?</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22</a:t>
            </a:fld>
            <a:endParaRPr lang="en-US" dirty="0"/>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1243</TotalTime>
  <Words>2559</Words>
  <Application>Microsoft Office PowerPoint</Application>
  <PresentationFormat>Widescreen</PresentationFormat>
  <Paragraphs>284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New Microsoft PowerPoint Presentation</vt:lpstr>
      <vt:lpstr>Privacy-Preserving Federated Hybrid Ensemble (EfficientNetB3-InceptionV3) for Multi-Class Skin Lesion Classification</vt:lpstr>
      <vt:lpstr>Outline</vt:lpstr>
      <vt:lpstr>Introduction</vt:lpstr>
      <vt:lpstr>Problem Statement</vt:lpstr>
      <vt:lpstr>Objective</vt:lpstr>
      <vt:lpstr>Background Study</vt:lpstr>
      <vt:lpstr>Background Study</vt:lpstr>
      <vt:lpstr>Gap Analysis</vt:lpstr>
      <vt:lpstr>Methodology</vt:lpstr>
      <vt:lpstr>Methodology</vt:lpstr>
      <vt:lpstr>Proposed Model</vt:lpstr>
      <vt:lpstr>Proposed Model Architecture</vt:lpstr>
      <vt:lpstr>Result and Analysis</vt:lpstr>
      <vt:lpstr>Result and Analysis</vt:lpstr>
      <vt:lpstr>Result and Analysis of Federate Clients</vt:lpstr>
      <vt:lpstr>Analysis of Ablation Study</vt:lpstr>
      <vt:lpstr>Result and Analysis</vt:lpstr>
      <vt:lpstr>Result and Analysis</vt:lpstr>
      <vt:lpstr>Novelty of the Work</vt:lpstr>
      <vt:lpstr>Conclusion</vt:lpstr>
      <vt:lpstr>References</vt:lpstr>
      <vt:lpstr>Any Questions?</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AMIT kUMAR</cp:lastModifiedBy>
  <cp:revision>269</cp:revision>
  <dcterms:created xsi:type="dcterms:W3CDTF">2011-07-17T02:56:35Z</dcterms:created>
  <dcterms:modified xsi:type="dcterms:W3CDTF">2025-12-09T02:22:57Z</dcterms:modified>
</cp:coreProperties>
</file>